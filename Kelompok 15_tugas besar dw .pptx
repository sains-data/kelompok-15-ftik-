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ecalotype Bold" charset="1" panose="00000800000000000000"/>
      <p:regular r:id="rId18"/>
    </p:embeddedFont>
    <p:embeddedFont>
      <p:font typeface="Inter Bold" charset="1" panose="020B0802030000000004"/>
      <p:regular r:id="rId19"/>
    </p:embeddedFont>
    <p:embeddedFont>
      <p:font typeface="Inter" charset="1" panose="020B05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898" y="9467871"/>
            <a:ext cx="20863797" cy="3086100"/>
            <a:chOff x="0" y="0"/>
            <a:chExt cx="549499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4992" cy="812800"/>
            </a:xfrm>
            <a:custGeom>
              <a:avLst/>
              <a:gdLst/>
              <a:ahLst/>
              <a:cxnLst/>
              <a:rect r="r" b="b" t="t" l="l"/>
              <a:pathLst>
                <a:path h="812800" w="5494992">
                  <a:moveTo>
                    <a:pt x="0" y="0"/>
                  </a:moveTo>
                  <a:lnTo>
                    <a:pt x="5494992" y="0"/>
                  </a:lnTo>
                  <a:lnTo>
                    <a:pt x="54949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C68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9499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0322476" y="-1108759"/>
            <a:ext cx="13631542" cy="12119680"/>
          </a:xfrm>
          <a:custGeom>
            <a:avLst/>
            <a:gdLst/>
            <a:ahLst/>
            <a:cxnLst/>
            <a:rect r="r" b="b" t="t" l="l"/>
            <a:pathLst>
              <a:path h="12119680" w="13631542">
                <a:moveTo>
                  <a:pt x="13631543" y="12119680"/>
                </a:moveTo>
                <a:lnTo>
                  <a:pt x="0" y="12119680"/>
                </a:lnTo>
                <a:lnTo>
                  <a:pt x="0" y="0"/>
                </a:lnTo>
                <a:lnTo>
                  <a:pt x="13631543" y="0"/>
                </a:lnTo>
                <a:lnTo>
                  <a:pt x="13631543" y="121196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058926" y="-3316552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1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1" y="0"/>
                </a:lnTo>
                <a:lnTo>
                  <a:pt x="11664501" y="103708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112509" y="3232750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2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2" y="0"/>
                </a:lnTo>
                <a:lnTo>
                  <a:pt x="11664502" y="1037080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7939" y="2964833"/>
            <a:ext cx="13758776" cy="264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7"/>
              </a:lnSpc>
            </a:pPr>
            <a:r>
              <a:rPr lang="en-US" sz="6857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BUSINESS REQUIREMENTS </a:t>
            </a:r>
          </a:p>
          <a:p>
            <a:pPr algn="l">
              <a:lnSpc>
                <a:spcPts val="6857"/>
              </a:lnSpc>
            </a:pPr>
            <a:r>
              <a:rPr lang="en-US" sz="6857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ANALYSIS </a:t>
            </a:r>
          </a:p>
          <a:p>
            <a:pPr algn="l">
              <a:lnSpc>
                <a:spcPts val="6857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901767" y="675149"/>
            <a:ext cx="8655764" cy="8671530"/>
          </a:xfrm>
          <a:custGeom>
            <a:avLst/>
            <a:gdLst/>
            <a:ahLst/>
            <a:cxnLst/>
            <a:rect r="r" b="b" t="t" l="l"/>
            <a:pathLst>
              <a:path h="8671530" w="8655764">
                <a:moveTo>
                  <a:pt x="0" y="0"/>
                </a:moveTo>
                <a:lnTo>
                  <a:pt x="8655764" y="0"/>
                </a:lnTo>
                <a:lnTo>
                  <a:pt x="8655764" y="8671531"/>
                </a:lnTo>
                <a:lnTo>
                  <a:pt x="0" y="8671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7939" y="6009857"/>
            <a:ext cx="8948048" cy="2632990"/>
            <a:chOff x="0" y="0"/>
            <a:chExt cx="2230574" cy="6563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0574" cy="656353"/>
            </a:xfrm>
            <a:custGeom>
              <a:avLst/>
              <a:gdLst/>
              <a:ahLst/>
              <a:cxnLst/>
              <a:rect r="r" b="b" t="t" l="l"/>
              <a:pathLst>
                <a:path h="656353" w="2230574">
                  <a:moveTo>
                    <a:pt x="51912" y="0"/>
                  </a:moveTo>
                  <a:lnTo>
                    <a:pt x="2178662" y="0"/>
                  </a:lnTo>
                  <a:cubicBezTo>
                    <a:pt x="2192430" y="0"/>
                    <a:pt x="2205634" y="5469"/>
                    <a:pt x="2215369" y="15205"/>
                  </a:cubicBezTo>
                  <a:cubicBezTo>
                    <a:pt x="2225105" y="24940"/>
                    <a:pt x="2230574" y="38144"/>
                    <a:pt x="2230574" y="51912"/>
                  </a:cubicBezTo>
                  <a:lnTo>
                    <a:pt x="2230574" y="604441"/>
                  </a:lnTo>
                  <a:cubicBezTo>
                    <a:pt x="2230574" y="633111"/>
                    <a:pt x="2207332" y="656353"/>
                    <a:pt x="2178662" y="656353"/>
                  </a:cubicBezTo>
                  <a:lnTo>
                    <a:pt x="51912" y="656353"/>
                  </a:lnTo>
                  <a:cubicBezTo>
                    <a:pt x="38144" y="656353"/>
                    <a:pt x="24940" y="650884"/>
                    <a:pt x="15205" y="641148"/>
                  </a:cubicBezTo>
                  <a:cubicBezTo>
                    <a:pt x="5469" y="631413"/>
                    <a:pt x="0" y="618209"/>
                    <a:pt x="0" y="604441"/>
                  </a:cubicBezTo>
                  <a:lnTo>
                    <a:pt x="0" y="51912"/>
                  </a:lnTo>
                  <a:cubicBezTo>
                    <a:pt x="0" y="23242"/>
                    <a:pt x="23242" y="0"/>
                    <a:pt x="51912" y="0"/>
                  </a:cubicBezTo>
                  <a:close/>
                </a:path>
              </a:pathLst>
            </a:custGeom>
            <a:solidFill>
              <a:srgbClr val="F0C9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30574" cy="69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4229199">
            <a:off x="-394003" y="-1173623"/>
            <a:ext cx="1763884" cy="3031675"/>
          </a:xfrm>
          <a:custGeom>
            <a:avLst/>
            <a:gdLst/>
            <a:ahLst/>
            <a:cxnLst/>
            <a:rect r="r" b="b" t="t" l="l"/>
            <a:pathLst>
              <a:path h="3031675" w="1763884">
                <a:moveTo>
                  <a:pt x="0" y="0"/>
                </a:moveTo>
                <a:lnTo>
                  <a:pt x="1763883" y="0"/>
                </a:lnTo>
                <a:lnTo>
                  <a:pt x="1763883" y="3031675"/>
                </a:lnTo>
                <a:lnTo>
                  <a:pt x="0" y="3031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66137" y="1948043"/>
            <a:ext cx="1611262" cy="240225"/>
          </a:xfrm>
          <a:custGeom>
            <a:avLst/>
            <a:gdLst/>
            <a:ahLst/>
            <a:cxnLst/>
            <a:rect r="r" b="b" t="t" l="l"/>
            <a:pathLst>
              <a:path h="240225" w="1611262">
                <a:moveTo>
                  <a:pt x="0" y="0"/>
                </a:moveTo>
                <a:lnTo>
                  <a:pt x="1611262" y="0"/>
                </a:lnTo>
                <a:lnTo>
                  <a:pt x="1611262" y="240225"/>
                </a:lnTo>
                <a:lnTo>
                  <a:pt x="0" y="240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532738" y="8814132"/>
            <a:ext cx="1611262" cy="240225"/>
          </a:xfrm>
          <a:custGeom>
            <a:avLst/>
            <a:gdLst/>
            <a:ahLst/>
            <a:cxnLst/>
            <a:rect r="r" b="b" t="t" l="l"/>
            <a:pathLst>
              <a:path h="240225" w="1611262">
                <a:moveTo>
                  <a:pt x="0" y="0"/>
                </a:moveTo>
                <a:lnTo>
                  <a:pt x="1611262" y="0"/>
                </a:lnTo>
                <a:lnTo>
                  <a:pt x="1611262" y="240224"/>
                </a:lnTo>
                <a:lnTo>
                  <a:pt x="0" y="240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94898" y="909131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1" y="0"/>
                </a:lnTo>
                <a:lnTo>
                  <a:pt x="1603971" y="239138"/>
                </a:lnTo>
                <a:lnTo>
                  <a:pt x="0" y="2391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096914" y="8078246"/>
            <a:ext cx="855080" cy="85508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684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329545" y="8231338"/>
            <a:ext cx="389820" cy="582793"/>
          </a:xfrm>
          <a:custGeom>
            <a:avLst/>
            <a:gdLst/>
            <a:ahLst/>
            <a:cxnLst/>
            <a:rect r="r" b="b" t="t" l="l"/>
            <a:pathLst>
              <a:path h="582793" w="389820">
                <a:moveTo>
                  <a:pt x="0" y="0"/>
                </a:moveTo>
                <a:lnTo>
                  <a:pt x="389819" y="0"/>
                </a:lnTo>
                <a:lnTo>
                  <a:pt x="389819" y="582794"/>
                </a:lnTo>
                <a:lnTo>
                  <a:pt x="0" y="5827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87939" y="4632948"/>
            <a:ext cx="8152192" cy="78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1"/>
              </a:lnSpc>
            </a:pPr>
            <a:r>
              <a:rPr lang="en-US" sz="4515" b="true">
                <a:solidFill>
                  <a:srgbClr val="353958"/>
                </a:solidFill>
                <a:latin typeface="Inter Bold"/>
                <a:ea typeface="Inter Bold"/>
                <a:cs typeface="Inter Bold"/>
                <a:sym typeface="Inter Bold"/>
              </a:rPr>
              <a:t>DATA MART FTIK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7939" y="6138147"/>
            <a:ext cx="8746766" cy="222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353958"/>
                </a:solidFill>
                <a:latin typeface="Inter Bold"/>
                <a:ea typeface="Inter Bold"/>
                <a:cs typeface="Inter Bold"/>
                <a:sym typeface="Inter Bold"/>
              </a:rPr>
              <a:t>Disusun Oleh:</a:t>
            </a:r>
          </a:p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353958"/>
                </a:solidFill>
                <a:latin typeface="Inter Bold"/>
                <a:ea typeface="Inter Bold"/>
                <a:cs typeface="Inter Bold"/>
                <a:sym typeface="Inter Bold"/>
              </a:rPr>
              <a:t> EIGI ARTAMEVIA (123450011)</a:t>
            </a:r>
          </a:p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353958"/>
                </a:solidFill>
                <a:latin typeface="Inter Bold"/>
                <a:ea typeface="Inter Bold"/>
                <a:cs typeface="Inter Bold"/>
                <a:sym typeface="Inter Bold"/>
              </a:rPr>
              <a:t> SALSABILA PUTRI MAHARANI (123450070) MUHAMMAD ZAKY ZAIDDAN (122440119)</a:t>
            </a:r>
          </a:p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353958"/>
                </a:solidFill>
                <a:latin typeface="Inter Bold"/>
                <a:ea typeface="Inter Bold"/>
                <a:cs typeface="Inter Bold"/>
                <a:sym typeface="Inter Bold"/>
              </a:rPr>
              <a:t>HANIFAH INAYA SANI (123450123)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997971" y="256772"/>
            <a:ext cx="2615885" cy="836754"/>
            <a:chOff x="0" y="0"/>
            <a:chExt cx="629050" cy="20121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9050" cy="201217"/>
            </a:xfrm>
            <a:custGeom>
              <a:avLst/>
              <a:gdLst/>
              <a:ahLst/>
              <a:cxnLst/>
              <a:rect r="r" b="b" t="t" l="l"/>
              <a:pathLst>
                <a:path h="201217" w="629050">
                  <a:moveTo>
                    <a:pt x="65111" y="0"/>
                  </a:moveTo>
                  <a:lnTo>
                    <a:pt x="563940" y="0"/>
                  </a:lnTo>
                  <a:cubicBezTo>
                    <a:pt x="581208" y="0"/>
                    <a:pt x="597769" y="6860"/>
                    <a:pt x="609980" y="19070"/>
                  </a:cubicBezTo>
                  <a:cubicBezTo>
                    <a:pt x="622190" y="31281"/>
                    <a:pt x="629050" y="47842"/>
                    <a:pt x="629050" y="65111"/>
                  </a:cubicBezTo>
                  <a:lnTo>
                    <a:pt x="629050" y="136106"/>
                  </a:lnTo>
                  <a:cubicBezTo>
                    <a:pt x="629050" y="172066"/>
                    <a:pt x="599899" y="201217"/>
                    <a:pt x="563940" y="201217"/>
                  </a:cubicBezTo>
                  <a:lnTo>
                    <a:pt x="65111" y="201217"/>
                  </a:lnTo>
                  <a:cubicBezTo>
                    <a:pt x="47842" y="201217"/>
                    <a:pt x="31281" y="194357"/>
                    <a:pt x="19070" y="182147"/>
                  </a:cubicBezTo>
                  <a:cubicBezTo>
                    <a:pt x="6860" y="169936"/>
                    <a:pt x="0" y="153375"/>
                    <a:pt x="0" y="136106"/>
                  </a:cubicBezTo>
                  <a:lnTo>
                    <a:pt x="0" y="65111"/>
                  </a:lnTo>
                  <a:cubicBezTo>
                    <a:pt x="0" y="47842"/>
                    <a:pt x="6860" y="31281"/>
                    <a:pt x="19070" y="19070"/>
                  </a:cubicBezTo>
                  <a:cubicBezTo>
                    <a:pt x="31281" y="6860"/>
                    <a:pt x="47842" y="0"/>
                    <a:pt x="65111" y="0"/>
                  </a:cubicBezTo>
                  <a:close/>
                </a:path>
              </a:pathLst>
            </a:custGeom>
            <a:solidFill>
              <a:srgbClr val="F0C95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29050" cy="239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052960" y="425946"/>
            <a:ext cx="2505907" cy="60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2"/>
              </a:lnSpc>
            </a:pPr>
            <a:r>
              <a:rPr lang="en-US" b="true" sz="3501">
                <a:solidFill>
                  <a:srgbClr val="353958"/>
                </a:solidFill>
                <a:latin typeface="Inter Bold"/>
                <a:ea typeface="Inter Bold"/>
                <a:cs typeface="Inter Bold"/>
                <a:sym typeface="Inter Bold"/>
              </a:rPr>
              <a:t>SHODWE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1575" y="1143000"/>
            <a:ext cx="11071087" cy="263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6803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STEP 1 – </a:t>
            </a:r>
          </a:p>
          <a:p>
            <a:pPr algn="l">
              <a:lnSpc>
                <a:spcPts val="6803"/>
              </a:lnSpc>
            </a:pPr>
            <a:r>
              <a:rPr lang="en-US" sz="6803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ANALISIS KEBUTUHAN &amp; IDENTIFIKASI SUMBER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91025"/>
            <a:ext cx="11213962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6"/>
              </a:lnSpc>
            </a:pPr>
            <a:r>
              <a:rPr lang="en-US" sz="3805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Sumber data: Website FTIK, dokumen publik PDF, manual entry Tidak tersedia OLTP atau API </a:t>
            </a:r>
          </a:p>
          <a:p>
            <a:pPr algn="just">
              <a:lnSpc>
                <a:spcPts val="4566"/>
              </a:lnSpc>
            </a:pPr>
            <a:r>
              <a:rPr lang="en-US" sz="3805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Kebutuhan bisnis: monitoring aktivitas fakultas KPI: jumlah kegiatan, berita, agenda, peserta, tren waktu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12681524" y="1691970"/>
            <a:ext cx="12010633" cy="10678545"/>
          </a:xfrm>
          <a:custGeom>
            <a:avLst/>
            <a:gdLst/>
            <a:ahLst/>
            <a:cxnLst/>
            <a:rect r="r" b="b" t="t" l="l"/>
            <a:pathLst>
              <a:path h="10678545" w="12010633">
                <a:moveTo>
                  <a:pt x="12010633" y="10678545"/>
                </a:moveTo>
                <a:lnTo>
                  <a:pt x="0" y="10678545"/>
                </a:lnTo>
                <a:lnTo>
                  <a:pt x="0" y="0"/>
                </a:lnTo>
                <a:lnTo>
                  <a:pt x="12010633" y="0"/>
                </a:lnTo>
                <a:lnTo>
                  <a:pt x="12010633" y="106785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338428" y="-1956959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1" y="10370803"/>
                </a:moveTo>
                <a:lnTo>
                  <a:pt x="0" y="10370803"/>
                </a:lnTo>
                <a:lnTo>
                  <a:pt x="0" y="0"/>
                </a:lnTo>
                <a:lnTo>
                  <a:pt x="11664501" y="0"/>
                </a:lnTo>
                <a:lnTo>
                  <a:pt x="11664501" y="1037080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353173" y="3296028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2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2" y="0"/>
                </a:lnTo>
                <a:lnTo>
                  <a:pt x="11664502" y="1037080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42662" y="1462582"/>
            <a:ext cx="5633724" cy="5254728"/>
          </a:xfrm>
          <a:custGeom>
            <a:avLst/>
            <a:gdLst/>
            <a:ahLst/>
            <a:cxnLst/>
            <a:rect r="r" b="b" t="t" l="l"/>
            <a:pathLst>
              <a:path h="5254728" w="5633724">
                <a:moveTo>
                  <a:pt x="0" y="0"/>
                </a:moveTo>
                <a:lnTo>
                  <a:pt x="5633724" y="0"/>
                </a:lnTo>
                <a:lnTo>
                  <a:pt x="5633724" y="5254728"/>
                </a:lnTo>
                <a:lnTo>
                  <a:pt x="0" y="52547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377065" y="1452832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1" y="0"/>
                </a:lnTo>
                <a:lnTo>
                  <a:pt x="1603971" y="239138"/>
                </a:lnTo>
                <a:lnTo>
                  <a:pt x="0" y="2391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937752" y="-3757553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1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1" y="0"/>
                </a:lnTo>
                <a:lnTo>
                  <a:pt x="11664501" y="103708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243100" y="3896976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2" y="10370803"/>
                </a:moveTo>
                <a:lnTo>
                  <a:pt x="0" y="10370803"/>
                </a:lnTo>
                <a:lnTo>
                  <a:pt x="0" y="0"/>
                </a:lnTo>
                <a:lnTo>
                  <a:pt x="11664502" y="0"/>
                </a:lnTo>
                <a:lnTo>
                  <a:pt x="11664502" y="1037080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9735944" y="5678304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0" y="10370802"/>
                </a:moveTo>
                <a:lnTo>
                  <a:pt x="11664502" y="10370802"/>
                </a:lnTo>
                <a:lnTo>
                  <a:pt x="11664502" y="0"/>
                </a:lnTo>
                <a:lnTo>
                  <a:pt x="0" y="0"/>
                </a:lnTo>
                <a:lnTo>
                  <a:pt x="0" y="103708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16622" y="297160"/>
            <a:ext cx="5819841" cy="4846340"/>
          </a:xfrm>
          <a:custGeom>
            <a:avLst/>
            <a:gdLst/>
            <a:ahLst/>
            <a:cxnLst/>
            <a:rect r="r" b="b" t="t" l="l"/>
            <a:pathLst>
              <a:path h="4846340" w="5819841">
                <a:moveTo>
                  <a:pt x="0" y="0"/>
                </a:moveTo>
                <a:lnTo>
                  <a:pt x="5819840" y="0"/>
                </a:lnTo>
                <a:lnTo>
                  <a:pt x="5819840" y="4846340"/>
                </a:lnTo>
                <a:lnTo>
                  <a:pt x="0" y="48463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18779" y="948024"/>
            <a:ext cx="9297843" cy="291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7803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STEP 2  – </a:t>
            </a:r>
          </a:p>
          <a:p>
            <a:pPr algn="l">
              <a:lnSpc>
                <a:spcPts val="7403"/>
              </a:lnSpc>
            </a:pPr>
            <a:r>
              <a:rPr lang="en-US" sz="7403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DETAIL IDENTIFIKASI SUMBER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265" y="5020601"/>
            <a:ext cx="13671487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9"/>
              </a:lnSpc>
            </a:pPr>
            <a:r>
              <a:rPr lang="en-US" sz="3515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Halaman Berita: judul, tanggal, penulis, isi, kategori, URL. Schema berita: title, publish _ date, content, category, url. </a:t>
            </a:r>
          </a:p>
          <a:p>
            <a:pPr algn="just">
              <a:lnSpc>
                <a:spcPts val="4219"/>
              </a:lnSpc>
            </a:pPr>
            <a:r>
              <a:rPr lang="en-US" sz="3515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Halaman Agenda: nama acara, tanggal, lokasi, penyelenggara. Schema agenda: event _ name, event _ date, event _ time, location, organizer. </a:t>
            </a:r>
          </a:p>
          <a:p>
            <a:pPr algn="just">
              <a:lnSpc>
                <a:spcPts val="4219"/>
              </a:lnSpc>
            </a:pPr>
            <a:r>
              <a:rPr lang="en-US" sz="3515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Program Studi: nama prodi, profil, ketua prodi; stabil dan cocok untuk dimensi. </a:t>
            </a:r>
          </a:p>
          <a:p>
            <a:pPr algn="just">
              <a:lnSpc>
                <a:spcPts val="4219"/>
              </a:lnSpc>
            </a:pPr>
            <a:r>
              <a:rPr lang="en-US" sz="3515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Struktur Organisasi: nama pejabat, jabatan, periode menjabat.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4229199">
            <a:off x="-483825" y="-1127142"/>
            <a:ext cx="1794923" cy="3085024"/>
          </a:xfrm>
          <a:custGeom>
            <a:avLst/>
            <a:gdLst/>
            <a:ahLst/>
            <a:cxnLst/>
            <a:rect r="r" b="b" t="t" l="l"/>
            <a:pathLst>
              <a:path h="3085024" w="1794923">
                <a:moveTo>
                  <a:pt x="0" y="0"/>
                </a:moveTo>
                <a:lnTo>
                  <a:pt x="1794923" y="0"/>
                </a:lnTo>
                <a:lnTo>
                  <a:pt x="1794923" y="3085023"/>
                </a:lnTo>
                <a:lnTo>
                  <a:pt x="0" y="3085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88168" y="3896976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1" y="0"/>
                </a:lnTo>
                <a:lnTo>
                  <a:pt x="1603971" y="239138"/>
                </a:lnTo>
                <a:lnTo>
                  <a:pt x="0" y="2391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1575" y="1143000"/>
            <a:ext cx="11071087" cy="263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6803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STEP 3 ERD, </a:t>
            </a:r>
          </a:p>
          <a:p>
            <a:pPr algn="l">
              <a:lnSpc>
                <a:spcPts val="6803"/>
              </a:lnSpc>
            </a:pPr>
            <a:r>
              <a:rPr lang="en-US" sz="6803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KUALITAS DATA &amp; MODEL DIMENSIONAL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2326" y="4615352"/>
            <a:ext cx="12587881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8"/>
              </a:lnSpc>
            </a:pPr>
            <a:r>
              <a:rPr lang="en-US" sz="3398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Distribusi data: meningkat saat akreditasi/event besar. </a:t>
            </a:r>
          </a:p>
          <a:p>
            <a:pPr algn="just">
              <a:lnSpc>
                <a:spcPts val="4078"/>
              </a:lnSpc>
            </a:pPr>
            <a:r>
              <a:rPr lang="en-US" sz="3398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Null Values: kategori berita kosong, lokasi agenda tidak selalu tersedia. </a:t>
            </a:r>
          </a:p>
          <a:p>
            <a:pPr algn="just">
              <a:lnSpc>
                <a:spcPts val="4078"/>
              </a:lnSpc>
            </a:pPr>
            <a:r>
              <a:rPr lang="en-US" sz="3398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Outliers: format tanggal tidak seragam, kegiatan tanpa deskripsi. </a:t>
            </a:r>
          </a:p>
          <a:p>
            <a:pPr algn="just">
              <a:lnSpc>
                <a:spcPts val="4078"/>
              </a:lnSpc>
            </a:pPr>
            <a:r>
              <a:rPr lang="en-US" sz="3398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Duplikasi: berita judul mirip, agenda muncul ulang di berita. Star Schema: Fact (Kegiatan, Berita, Agenda) terhubung Dim Waktu, Prodi, Unit, Kategori. Model mendukung OLAP: analisis per waktu, unit, prodi dan kategori.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14021982" y="2883759"/>
            <a:ext cx="10670175" cy="9486756"/>
          </a:xfrm>
          <a:custGeom>
            <a:avLst/>
            <a:gdLst/>
            <a:ahLst/>
            <a:cxnLst/>
            <a:rect r="r" b="b" t="t" l="l"/>
            <a:pathLst>
              <a:path h="9486756" w="10670175">
                <a:moveTo>
                  <a:pt x="10670175" y="9486756"/>
                </a:moveTo>
                <a:lnTo>
                  <a:pt x="0" y="9486756"/>
                </a:lnTo>
                <a:lnTo>
                  <a:pt x="0" y="0"/>
                </a:lnTo>
                <a:lnTo>
                  <a:pt x="10670175" y="0"/>
                </a:lnTo>
                <a:lnTo>
                  <a:pt x="10670175" y="948675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28017" y="-1924912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1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1" y="0"/>
                </a:lnTo>
                <a:lnTo>
                  <a:pt x="11664501" y="103708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6653986" y="3773254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2" y="10370803"/>
                </a:moveTo>
                <a:lnTo>
                  <a:pt x="0" y="10370803"/>
                </a:lnTo>
                <a:lnTo>
                  <a:pt x="0" y="0"/>
                </a:lnTo>
                <a:lnTo>
                  <a:pt x="11664502" y="0"/>
                </a:lnTo>
                <a:lnTo>
                  <a:pt x="11664502" y="1037080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42662" y="-226387"/>
            <a:ext cx="5633724" cy="5254728"/>
          </a:xfrm>
          <a:custGeom>
            <a:avLst/>
            <a:gdLst/>
            <a:ahLst/>
            <a:cxnLst/>
            <a:rect r="r" b="b" t="t" l="l"/>
            <a:pathLst>
              <a:path h="5254728" w="5633724">
                <a:moveTo>
                  <a:pt x="0" y="0"/>
                </a:moveTo>
                <a:lnTo>
                  <a:pt x="5633724" y="0"/>
                </a:lnTo>
                <a:lnTo>
                  <a:pt x="5633724" y="5254728"/>
                </a:lnTo>
                <a:lnTo>
                  <a:pt x="0" y="52547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377065" y="1452832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1" y="0"/>
                </a:lnTo>
                <a:lnTo>
                  <a:pt x="1603971" y="239138"/>
                </a:lnTo>
                <a:lnTo>
                  <a:pt x="0" y="2391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8290185" y="633549"/>
            <a:ext cx="13631542" cy="12119680"/>
          </a:xfrm>
          <a:custGeom>
            <a:avLst/>
            <a:gdLst/>
            <a:ahLst/>
            <a:cxnLst/>
            <a:rect r="r" b="b" t="t" l="l"/>
            <a:pathLst>
              <a:path h="12119680" w="13631542">
                <a:moveTo>
                  <a:pt x="0" y="12119680"/>
                </a:moveTo>
                <a:lnTo>
                  <a:pt x="13631543" y="12119680"/>
                </a:lnTo>
                <a:lnTo>
                  <a:pt x="13631543" y="0"/>
                </a:lnTo>
                <a:lnTo>
                  <a:pt x="0" y="0"/>
                </a:lnTo>
                <a:lnTo>
                  <a:pt x="0" y="121196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7308399" y="-2270869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0" y="10370802"/>
                </a:moveTo>
                <a:lnTo>
                  <a:pt x="11664502" y="10370802"/>
                </a:lnTo>
                <a:lnTo>
                  <a:pt x="11664502" y="0"/>
                </a:lnTo>
                <a:lnTo>
                  <a:pt x="0" y="0"/>
                </a:lnTo>
                <a:lnTo>
                  <a:pt x="0" y="103708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7308399" y="2584592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0" y="10370802"/>
                </a:moveTo>
                <a:lnTo>
                  <a:pt x="11664502" y="10370802"/>
                </a:lnTo>
                <a:lnTo>
                  <a:pt x="11664502" y="0"/>
                </a:lnTo>
                <a:lnTo>
                  <a:pt x="0" y="0"/>
                </a:lnTo>
                <a:lnTo>
                  <a:pt x="0" y="1037080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2115000"/>
            <a:ext cx="5698567" cy="5449902"/>
          </a:xfrm>
          <a:custGeom>
            <a:avLst/>
            <a:gdLst/>
            <a:ahLst/>
            <a:cxnLst/>
            <a:rect r="r" b="b" t="t" l="l"/>
            <a:pathLst>
              <a:path h="5449902" w="5698567">
                <a:moveTo>
                  <a:pt x="5698567" y="0"/>
                </a:moveTo>
                <a:lnTo>
                  <a:pt x="0" y="0"/>
                </a:lnTo>
                <a:lnTo>
                  <a:pt x="0" y="5449902"/>
                </a:lnTo>
                <a:lnTo>
                  <a:pt x="5698567" y="5449902"/>
                </a:lnTo>
                <a:lnTo>
                  <a:pt x="569856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937501" y="580801"/>
            <a:ext cx="7768278" cy="32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303"/>
              </a:lnSpc>
            </a:pPr>
            <a:r>
              <a:rPr lang="en-US" b="true" sz="8303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STEP 4 </a:t>
            </a:r>
          </a:p>
          <a:p>
            <a:pPr algn="r">
              <a:lnSpc>
                <a:spcPts val="8303"/>
              </a:lnSpc>
            </a:pPr>
            <a:r>
              <a:rPr lang="en-US" b="true" sz="8303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DATA DICTIONARY (DIMENSI)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12383" y="4364502"/>
            <a:ext cx="10221946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3499">
                <a:solidFill>
                  <a:srgbClr val="353958"/>
                </a:solidFill>
                <a:latin typeface="Inter"/>
                <a:ea typeface="Inter"/>
                <a:cs typeface="Inter"/>
                <a:sym typeface="Inter"/>
              </a:rPr>
              <a:t>Dim Waktu: id_waktu, tanggal, hari, bulan, nama bulan, tahun (&gt;=2000). Dim Prodi: id_prodi, nama prodi (tidak boleh kosong), jenjang, kaprodi. Dim Unit Organisasi: id_unit, nama unit, tipe unit, posisi, organisasi_type, parent_id. Dim Kategori: id_kategori, nama_kategori (boleh null).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-4230000">
            <a:off x="16926412" y="-1209939"/>
            <a:ext cx="1917515" cy="3295730"/>
          </a:xfrm>
          <a:custGeom>
            <a:avLst/>
            <a:gdLst/>
            <a:ahLst/>
            <a:cxnLst/>
            <a:rect r="r" b="b" t="t" l="l"/>
            <a:pathLst>
              <a:path h="3295730" w="1917515">
                <a:moveTo>
                  <a:pt x="1917515" y="0"/>
                </a:moveTo>
                <a:lnTo>
                  <a:pt x="0" y="0"/>
                </a:lnTo>
                <a:lnTo>
                  <a:pt x="0" y="3295730"/>
                </a:lnTo>
                <a:lnTo>
                  <a:pt x="1917515" y="3295730"/>
                </a:lnTo>
                <a:lnTo>
                  <a:pt x="191751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58777" y="3139399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0" y="0"/>
                </a:lnTo>
                <a:lnTo>
                  <a:pt x="1603970" y="239138"/>
                </a:lnTo>
                <a:lnTo>
                  <a:pt x="0" y="2391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0830" y="9258300"/>
            <a:ext cx="19729659" cy="3086100"/>
            <a:chOff x="0" y="0"/>
            <a:chExt cx="519628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6289" cy="812800"/>
            </a:xfrm>
            <a:custGeom>
              <a:avLst/>
              <a:gdLst/>
              <a:ahLst/>
              <a:cxnLst/>
              <a:rect r="r" b="b" t="t" l="l"/>
              <a:pathLst>
                <a:path h="812800" w="5196289">
                  <a:moveTo>
                    <a:pt x="0" y="0"/>
                  </a:moveTo>
                  <a:lnTo>
                    <a:pt x="5196289" y="0"/>
                  </a:lnTo>
                  <a:lnTo>
                    <a:pt x="51962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962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6208063" y="5101599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1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1" y="0"/>
                </a:lnTo>
                <a:lnTo>
                  <a:pt x="11664501" y="103708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9584564" y="5101599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0" y="10370802"/>
                </a:moveTo>
                <a:lnTo>
                  <a:pt x="11664501" y="10370802"/>
                </a:lnTo>
                <a:lnTo>
                  <a:pt x="11664501" y="0"/>
                </a:lnTo>
                <a:lnTo>
                  <a:pt x="0" y="0"/>
                </a:lnTo>
                <a:lnTo>
                  <a:pt x="0" y="103708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990945" y="3585619"/>
            <a:ext cx="5122963" cy="5142922"/>
            <a:chOff x="0" y="0"/>
            <a:chExt cx="1349258" cy="13545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9258" cy="1354515"/>
            </a:xfrm>
            <a:custGeom>
              <a:avLst/>
              <a:gdLst/>
              <a:ahLst/>
              <a:cxnLst/>
              <a:rect r="r" b="b" t="t" l="l"/>
              <a:pathLst>
                <a:path h="1354515" w="1349258">
                  <a:moveTo>
                    <a:pt x="37780" y="0"/>
                  </a:moveTo>
                  <a:lnTo>
                    <a:pt x="1311477" y="0"/>
                  </a:lnTo>
                  <a:cubicBezTo>
                    <a:pt x="1332343" y="0"/>
                    <a:pt x="1349258" y="16915"/>
                    <a:pt x="1349258" y="37780"/>
                  </a:cubicBezTo>
                  <a:lnTo>
                    <a:pt x="1349258" y="1316734"/>
                  </a:lnTo>
                  <a:cubicBezTo>
                    <a:pt x="1349258" y="1326754"/>
                    <a:pt x="1345277" y="1336364"/>
                    <a:pt x="1338192" y="1343449"/>
                  </a:cubicBezTo>
                  <a:cubicBezTo>
                    <a:pt x="1331107" y="1350534"/>
                    <a:pt x="1321497" y="1354515"/>
                    <a:pt x="1311477" y="1354515"/>
                  </a:cubicBezTo>
                  <a:lnTo>
                    <a:pt x="37780" y="1354515"/>
                  </a:lnTo>
                  <a:cubicBezTo>
                    <a:pt x="27760" y="1354515"/>
                    <a:pt x="18151" y="1350534"/>
                    <a:pt x="11066" y="1343449"/>
                  </a:cubicBezTo>
                  <a:cubicBezTo>
                    <a:pt x="3980" y="1336364"/>
                    <a:pt x="0" y="1326754"/>
                    <a:pt x="0" y="1316734"/>
                  </a:cubicBezTo>
                  <a:lnTo>
                    <a:pt x="0" y="37780"/>
                  </a:lnTo>
                  <a:cubicBezTo>
                    <a:pt x="0" y="27760"/>
                    <a:pt x="3980" y="18151"/>
                    <a:pt x="11066" y="11066"/>
                  </a:cubicBezTo>
                  <a:cubicBezTo>
                    <a:pt x="18151" y="3980"/>
                    <a:pt x="27760" y="0"/>
                    <a:pt x="37780" y="0"/>
                  </a:cubicBezTo>
                  <a:close/>
                </a:path>
              </a:pathLst>
            </a:custGeom>
            <a:solidFill>
              <a:srgbClr val="F0C9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49258" cy="1392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41260" y="3585619"/>
            <a:ext cx="5526459" cy="5142922"/>
            <a:chOff x="0" y="0"/>
            <a:chExt cx="1455528" cy="13545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55528" cy="1354515"/>
            </a:xfrm>
            <a:custGeom>
              <a:avLst/>
              <a:gdLst/>
              <a:ahLst/>
              <a:cxnLst/>
              <a:rect r="r" b="b" t="t" l="l"/>
              <a:pathLst>
                <a:path h="1354515" w="1455528">
                  <a:moveTo>
                    <a:pt x="35022" y="0"/>
                  </a:moveTo>
                  <a:lnTo>
                    <a:pt x="1420506" y="0"/>
                  </a:lnTo>
                  <a:cubicBezTo>
                    <a:pt x="1429795" y="0"/>
                    <a:pt x="1438703" y="3690"/>
                    <a:pt x="1445271" y="10258"/>
                  </a:cubicBezTo>
                  <a:cubicBezTo>
                    <a:pt x="1451839" y="16826"/>
                    <a:pt x="1455528" y="25734"/>
                    <a:pt x="1455528" y="35022"/>
                  </a:cubicBezTo>
                  <a:lnTo>
                    <a:pt x="1455528" y="1319492"/>
                  </a:lnTo>
                  <a:cubicBezTo>
                    <a:pt x="1455528" y="1338835"/>
                    <a:pt x="1439849" y="1354515"/>
                    <a:pt x="1420506" y="1354515"/>
                  </a:cubicBezTo>
                  <a:lnTo>
                    <a:pt x="35022" y="1354515"/>
                  </a:lnTo>
                  <a:cubicBezTo>
                    <a:pt x="25734" y="1354515"/>
                    <a:pt x="16826" y="1350825"/>
                    <a:pt x="10258" y="1344257"/>
                  </a:cubicBezTo>
                  <a:cubicBezTo>
                    <a:pt x="3690" y="1337689"/>
                    <a:pt x="0" y="1328781"/>
                    <a:pt x="0" y="1319492"/>
                  </a:cubicBezTo>
                  <a:lnTo>
                    <a:pt x="0" y="35022"/>
                  </a:lnTo>
                  <a:cubicBezTo>
                    <a:pt x="0" y="15680"/>
                    <a:pt x="15680" y="0"/>
                    <a:pt x="35022" y="0"/>
                  </a:cubicBezTo>
                  <a:close/>
                </a:path>
              </a:pathLst>
            </a:custGeom>
            <a:solidFill>
              <a:srgbClr val="BC684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55528" cy="1392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760586" y="879800"/>
            <a:ext cx="12658923" cy="186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3"/>
              </a:lnSpc>
            </a:pPr>
            <a:r>
              <a:rPr lang="en-US" b="true" sz="7203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STEP 5 </a:t>
            </a:r>
          </a:p>
          <a:p>
            <a:pPr algn="ctr">
              <a:lnSpc>
                <a:spcPts val="7103"/>
              </a:lnSpc>
            </a:pPr>
            <a:r>
              <a:rPr lang="en-US" b="true" sz="7103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DATA DICTIONARY (TABEL FAKTA)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60586" y="4615438"/>
            <a:ext cx="5581428" cy="272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9"/>
              </a:lnSpc>
            </a:pPr>
            <a:r>
              <a:rPr lang="en-US" sz="3591" b="true">
                <a:solidFill>
                  <a:srgbClr val="353958"/>
                </a:solidFill>
                <a:latin typeface="Inter Bold"/>
                <a:ea typeface="Inter Bold"/>
                <a:cs typeface="Inter Bold"/>
                <a:sym typeface="Inter Bold"/>
              </a:rPr>
              <a:t>Fact Berita: id_berita, id_waktu, id_unit, id_kategori, judul, jumlah_kata, panjang_konten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87900" y="3761734"/>
            <a:ext cx="5178248" cy="48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</a:pPr>
            <a:r>
              <a:rPr lang="en-US" sz="319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Fact Agenda: id_fact_agenda, id_waktu, id_unit, id_kategori, nama_agenda, durasi, lokasi. Keduanya terhubung ke dimensi: waktu, unit, kategori. Business rule: semua FK harus ada pada tabel dimensi.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4229199">
            <a:off x="-496261" y="-1294241"/>
            <a:ext cx="2042422" cy="3510413"/>
          </a:xfrm>
          <a:custGeom>
            <a:avLst/>
            <a:gdLst/>
            <a:ahLst/>
            <a:cxnLst/>
            <a:rect r="r" b="b" t="t" l="l"/>
            <a:pathLst>
              <a:path h="3510413" w="2042422">
                <a:moveTo>
                  <a:pt x="0" y="0"/>
                </a:moveTo>
                <a:lnTo>
                  <a:pt x="2042422" y="0"/>
                </a:lnTo>
                <a:lnTo>
                  <a:pt x="2042422" y="3510413"/>
                </a:lnTo>
                <a:lnTo>
                  <a:pt x="0" y="3510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4230000">
            <a:off x="16741926" y="-1294241"/>
            <a:ext cx="2042422" cy="3510413"/>
          </a:xfrm>
          <a:custGeom>
            <a:avLst/>
            <a:gdLst/>
            <a:ahLst/>
            <a:cxnLst/>
            <a:rect r="r" b="b" t="t" l="l"/>
            <a:pathLst>
              <a:path h="3510413" w="2042422">
                <a:moveTo>
                  <a:pt x="2042422" y="0"/>
                </a:moveTo>
                <a:lnTo>
                  <a:pt x="0" y="0"/>
                </a:lnTo>
                <a:lnTo>
                  <a:pt x="0" y="3510413"/>
                </a:lnTo>
                <a:lnTo>
                  <a:pt x="2042422" y="3510413"/>
                </a:lnTo>
                <a:lnTo>
                  <a:pt x="20424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342015" y="6157081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0" y="0"/>
                </a:lnTo>
                <a:lnTo>
                  <a:pt x="1603970" y="239137"/>
                </a:lnTo>
                <a:lnTo>
                  <a:pt x="0" y="239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631271" y="6755798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0" y="10370802"/>
                </a:moveTo>
                <a:lnTo>
                  <a:pt x="11664502" y="10370802"/>
                </a:lnTo>
                <a:lnTo>
                  <a:pt x="11664502" y="0"/>
                </a:lnTo>
                <a:lnTo>
                  <a:pt x="0" y="0"/>
                </a:lnTo>
                <a:lnTo>
                  <a:pt x="0" y="103708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4007773" y="6755798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2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2" y="0"/>
                </a:lnTo>
                <a:lnTo>
                  <a:pt x="11664502" y="103708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48773" y="3713660"/>
            <a:ext cx="12190454" cy="6151344"/>
            <a:chOff x="0" y="0"/>
            <a:chExt cx="3210654" cy="16201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10654" cy="1620107"/>
            </a:xfrm>
            <a:custGeom>
              <a:avLst/>
              <a:gdLst/>
              <a:ahLst/>
              <a:cxnLst/>
              <a:rect r="r" b="b" t="t" l="l"/>
              <a:pathLst>
                <a:path h="1620107" w="3210654">
                  <a:moveTo>
                    <a:pt x="63508" y="0"/>
                  </a:moveTo>
                  <a:lnTo>
                    <a:pt x="3147146" y="0"/>
                  </a:lnTo>
                  <a:cubicBezTo>
                    <a:pt x="3163990" y="0"/>
                    <a:pt x="3180143" y="6691"/>
                    <a:pt x="3192053" y="18601"/>
                  </a:cubicBezTo>
                  <a:cubicBezTo>
                    <a:pt x="3203963" y="30511"/>
                    <a:pt x="3210654" y="46665"/>
                    <a:pt x="3210654" y="63508"/>
                  </a:cubicBezTo>
                  <a:lnTo>
                    <a:pt x="3210654" y="1556599"/>
                  </a:lnTo>
                  <a:cubicBezTo>
                    <a:pt x="3210654" y="1573442"/>
                    <a:pt x="3203963" y="1589596"/>
                    <a:pt x="3192053" y="1601506"/>
                  </a:cubicBezTo>
                  <a:cubicBezTo>
                    <a:pt x="3180143" y="1613416"/>
                    <a:pt x="3163990" y="1620107"/>
                    <a:pt x="3147146" y="1620107"/>
                  </a:cubicBezTo>
                  <a:lnTo>
                    <a:pt x="63508" y="1620107"/>
                  </a:lnTo>
                  <a:cubicBezTo>
                    <a:pt x="46665" y="1620107"/>
                    <a:pt x="30511" y="1613416"/>
                    <a:pt x="18601" y="1601506"/>
                  </a:cubicBezTo>
                  <a:cubicBezTo>
                    <a:pt x="6691" y="1589596"/>
                    <a:pt x="0" y="1573442"/>
                    <a:pt x="0" y="1556599"/>
                  </a:cubicBezTo>
                  <a:lnTo>
                    <a:pt x="0" y="63508"/>
                  </a:lnTo>
                  <a:cubicBezTo>
                    <a:pt x="0" y="46665"/>
                    <a:pt x="6691" y="30511"/>
                    <a:pt x="18601" y="18601"/>
                  </a:cubicBezTo>
                  <a:cubicBezTo>
                    <a:pt x="30511" y="6691"/>
                    <a:pt x="46665" y="0"/>
                    <a:pt x="63508" y="0"/>
                  </a:cubicBezTo>
                  <a:close/>
                </a:path>
              </a:pathLst>
            </a:custGeom>
            <a:solidFill>
              <a:srgbClr val="F0C95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10654" cy="1658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720830" y="9258300"/>
            <a:ext cx="19729659" cy="3086100"/>
            <a:chOff x="0" y="0"/>
            <a:chExt cx="5196289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96289" cy="812800"/>
            </a:xfrm>
            <a:custGeom>
              <a:avLst/>
              <a:gdLst/>
              <a:ahLst/>
              <a:cxnLst/>
              <a:rect r="r" b="b" t="t" l="l"/>
              <a:pathLst>
                <a:path h="812800" w="5196289">
                  <a:moveTo>
                    <a:pt x="0" y="0"/>
                  </a:moveTo>
                  <a:lnTo>
                    <a:pt x="5196289" y="0"/>
                  </a:lnTo>
                  <a:lnTo>
                    <a:pt x="51962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1962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06692" y="4434281"/>
            <a:ext cx="5034585" cy="4457713"/>
            <a:chOff x="0" y="0"/>
            <a:chExt cx="1325981" cy="11740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5981" cy="1174048"/>
            </a:xfrm>
            <a:custGeom>
              <a:avLst/>
              <a:gdLst/>
              <a:ahLst/>
              <a:cxnLst/>
              <a:rect r="r" b="b" t="t" l="l"/>
              <a:pathLst>
                <a:path h="1174048" w="1325981">
                  <a:moveTo>
                    <a:pt x="30755" y="0"/>
                  </a:moveTo>
                  <a:lnTo>
                    <a:pt x="1295226" y="0"/>
                  </a:lnTo>
                  <a:cubicBezTo>
                    <a:pt x="1312212" y="0"/>
                    <a:pt x="1325981" y="13769"/>
                    <a:pt x="1325981" y="30755"/>
                  </a:cubicBezTo>
                  <a:lnTo>
                    <a:pt x="1325981" y="1143293"/>
                  </a:lnTo>
                  <a:cubicBezTo>
                    <a:pt x="1325981" y="1160278"/>
                    <a:pt x="1312212" y="1174048"/>
                    <a:pt x="1295226" y="1174048"/>
                  </a:cubicBezTo>
                  <a:lnTo>
                    <a:pt x="30755" y="1174048"/>
                  </a:lnTo>
                  <a:cubicBezTo>
                    <a:pt x="13769" y="1174048"/>
                    <a:pt x="0" y="1160278"/>
                    <a:pt x="0" y="1143293"/>
                  </a:cubicBezTo>
                  <a:lnTo>
                    <a:pt x="0" y="30755"/>
                  </a:lnTo>
                  <a:cubicBezTo>
                    <a:pt x="0" y="13769"/>
                    <a:pt x="13769" y="0"/>
                    <a:pt x="30755" y="0"/>
                  </a:cubicBez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25981" cy="1212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45985" y="4457687"/>
            <a:ext cx="4780966" cy="4457713"/>
            <a:chOff x="0" y="0"/>
            <a:chExt cx="1259184" cy="11740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184" cy="1174048"/>
            </a:xfrm>
            <a:custGeom>
              <a:avLst/>
              <a:gdLst/>
              <a:ahLst/>
              <a:cxnLst/>
              <a:rect r="r" b="b" t="t" l="l"/>
              <a:pathLst>
                <a:path h="1174048" w="1259184">
                  <a:moveTo>
                    <a:pt x="32386" y="0"/>
                  </a:moveTo>
                  <a:lnTo>
                    <a:pt x="1226798" y="0"/>
                  </a:lnTo>
                  <a:cubicBezTo>
                    <a:pt x="1244685" y="0"/>
                    <a:pt x="1259184" y="14500"/>
                    <a:pt x="1259184" y="32386"/>
                  </a:cubicBezTo>
                  <a:lnTo>
                    <a:pt x="1259184" y="1141662"/>
                  </a:lnTo>
                  <a:cubicBezTo>
                    <a:pt x="1259184" y="1150251"/>
                    <a:pt x="1255772" y="1158488"/>
                    <a:pt x="1249699" y="1164562"/>
                  </a:cubicBezTo>
                  <a:cubicBezTo>
                    <a:pt x="1243625" y="1170636"/>
                    <a:pt x="1235387" y="1174048"/>
                    <a:pt x="1226798" y="1174048"/>
                  </a:cubicBezTo>
                  <a:lnTo>
                    <a:pt x="32386" y="1174048"/>
                  </a:lnTo>
                  <a:cubicBezTo>
                    <a:pt x="14500" y="1174048"/>
                    <a:pt x="0" y="1159548"/>
                    <a:pt x="0" y="1141662"/>
                  </a:cubicBezTo>
                  <a:lnTo>
                    <a:pt x="0" y="32386"/>
                  </a:lnTo>
                  <a:cubicBezTo>
                    <a:pt x="0" y="23797"/>
                    <a:pt x="3412" y="15559"/>
                    <a:pt x="9486" y="9486"/>
                  </a:cubicBezTo>
                  <a:cubicBezTo>
                    <a:pt x="15559" y="3412"/>
                    <a:pt x="23797" y="0"/>
                    <a:pt x="32386" y="0"/>
                  </a:cubicBez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59184" cy="1212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586259" y="1443040"/>
            <a:ext cx="13115482" cy="161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3"/>
              </a:lnSpc>
            </a:pPr>
            <a:r>
              <a:rPr lang="en-US" b="true" sz="6203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ENTITY RELATIONSHIP DIAGRAM – </a:t>
            </a:r>
          </a:p>
          <a:p>
            <a:pPr algn="ctr">
              <a:lnSpc>
                <a:spcPts val="6203"/>
              </a:lnSpc>
            </a:pPr>
            <a:r>
              <a:rPr lang="en-US" b="true" sz="6203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DATA MART FTIK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31348" y="4803173"/>
            <a:ext cx="4512652" cy="390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RELASI BERITA KE DIM_WAKTU</a:t>
            </a:r>
          </a:p>
          <a:p>
            <a:pPr algn="ctr" marL="561345" indent="-280673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JENIS RELASI: MANY-TO-ONE (N:1)</a:t>
            </a:r>
          </a:p>
          <a:p>
            <a:pPr algn="ctr" marL="561345" indent="-280673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BANYAK BERITA → SATU TANGGAL DI DIM_WAKTU</a:t>
            </a:r>
          </a:p>
          <a:p>
            <a:pPr algn="ctr" marL="561345" indent="-280673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PUBLISH_DATE → WAKTU_ID</a:t>
            </a:r>
          </a:p>
          <a:p>
            <a:pPr algn="ctr">
              <a:lnSpc>
                <a:spcPts val="31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945985" y="4803173"/>
            <a:ext cx="4167028" cy="429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RELASI AGENDA KE DIM_WAK</a:t>
            </a:r>
            <a:r>
              <a:rPr lang="en-US" b="true" sz="26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TU</a:t>
            </a:r>
          </a:p>
          <a:p>
            <a:pPr algn="ctr" marL="561345" indent="-280673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JENIS RELASI: MANY-TO-ONE (N:1)</a:t>
            </a:r>
          </a:p>
          <a:p>
            <a:pPr algn="ctr" marL="561345" indent="-280673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BANYAK AGENDA → SATU TANGGAL EVENT DI DIM_WAKTU</a:t>
            </a:r>
          </a:p>
          <a:p>
            <a:pPr algn="ctr" marL="561345" indent="-280673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EVENT_DATE → WAKTU_ID</a:t>
            </a:r>
          </a:p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4229199">
            <a:off x="-496261" y="-1294241"/>
            <a:ext cx="2042422" cy="3510413"/>
          </a:xfrm>
          <a:custGeom>
            <a:avLst/>
            <a:gdLst/>
            <a:ahLst/>
            <a:cxnLst/>
            <a:rect r="r" b="b" t="t" l="l"/>
            <a:pathLst>
              <a:path h="3510413" w="2042422">
                <a:moveTo>
                  <a:pt x="0" y="0"/>
                </a:moveTo>
                <a:lnTo>
                  <a:pt x="2042422" y="0"/>
                </a:lnTo>
                <a:lnTo>
                  <a:pt x="2042422" y="3510413"/>
                </a:lnTo>
                <a:lnTo>
                  <a:pt x="0" y="3510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4230000">
            <a:off x="16741926" y="-1294241"/>
            <a:ext cx="2042422" cy="3510413"/>
          </a:xfrm>
          <a:custGeom>
            <a:avLst/>
            <a:gdLst/>
            <a:ahLst/>
            <a:cxnLst/>
            <a:rect r="r" b="b" t="t" l="l"/>
            <a:pathLst>
              <a:path h="3510413" w="2042422">
                <a:moveTo>
                  <a:pt x="2042422" y="0"/>
                </a:moveTo>
                <a:lnTo>
                  <a:pt x="0" y="0"/>
                </a:lnTo>
                <a:lnTo>
                  <a:pt x="0" y="3510413"/>
                </a:lnTo>
                <a:lnTo>
                  <a:pt x="2042422" y="3510413"/>
                </a:lnTo>
                <a:lnTo>
                  <a:pt x="20424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342015" y="3833194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0" y="0"/>
                </a:lnTo>
                <a:lnTo>
                  <a:pt x="1603970" y="239137"/>
                </a:lnTo>
                <a:lnTo>
                  <a:pt x="0" y="239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631271" y="6755798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0" y="10370802"/>
                </a:moveTo>
                <a:lnTo>
                  <a:pt x="11664502" y="10370802"/>
                </a:lnTo>
                <a:lnTo>
                  <a:pt x="11664502" y="0"/>
                </a:lnTo>
                <a:lnTo>
                  <a:pt x="0" y="0"/>
                </a:lnTo>
                <a:lnTo>
                  <a:pt x="0" y="103708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4007773" y="6755798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2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2" y="0"/>
                </a:lnTo>
                <a:lnTo>
                  <a:pt x="11664502" y="103708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48773" y="3713660"/>
            <a:ext cx="12190454" cy="6151344"/>
            <a:chOff x="0" y="0"/>
            <a:chExt cx="3210654" cy="16201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10654" cy="1620107"/>
            </a:xfrm>
            <a:custGeom>
              <a:avLst/>
              <a:gdLst/>
              <a:ahLst/>
              <a:cxnLst/>
              <a:rect r="r" b="b" t="t" l="l"/>
              <a:pathLst>
                <a:path h="1620107" w="3210654">
                  <a:moveTo>
                    <a:pt x="63508" y="0"/>
                  </a:moveTo>
                  <a:lnTo>
                    <a:pt x="3147146" y="0"/>
                  </a:lnTo>
                  <a:cubicBezTo>
                    <a:pt x="3163990" y="0"/>
                    <a:pt x="3180143" y="6691"/>
                    <a:pt x="3192053" y="18601"/>
                  </a:cubicBezTo>
                  <a:cubicBezTo>
                    <a:pt x="3203963" y="30511"/>
                    <a:pt x="3210654" y="46665"/>
                    <a:pt x="3210654" y="63508"/>
                  </a:cubicBezTo>
                  <a:lnTo>
                    <a:pt x="3210654" y="1556599"/>
                  </a:lnTo>
                  <a:cubicBezTo>
                    <a:pt x="3210654" y="1573442"/>
                    <a:pt x="3203963" y="1589596"/>
                    <a:pt x="3192053" y="1601506"/>
                  </a:cubicBezTo>
                  <a:cubicBezTo>
                    <a:pt x="3180143" y="1613416"/>
                    <a:pt x="3163990" y="1620107"/>
                    <a:pt x="3147146" y="1620107"/>
                  </a:cubicBezTo>
                  <a:lnTo>
                    <a:pt x="63508" y="1620107"/>
                  </a:lnTo>
                  <a:cubicBezTo>
                    <a:pt x="46665" y="1620107"/>
                    <a:pt x="30511" y="1613416"/>
                    <a:pt x="18601" y="1601506"/>
                  </a:cubicBezTo>
                  <a:cubicBezTo>
                    <a:pt x="6691" y="1589596"/>
                    <a:pt x="0" y="1573442"/>
                    <a:pt x="0" y="1556599"/>
                  </a:cubicBezTo>
                  <a:lnTo>
                    <a:pt x="0" y="63508"/>
                  </a:lnTo>
                  <a:cubicBezTo>
                    <a:pt x="0" y="46665"/>
                    <a:pt x="6691" y="30511"/>
                    <a:pt x="18601" y="18601"/>
                  </a:cubicBezTo>
                  <a:cubicBezTo>
                    <a:pt x="30511" y="6691"/>
                    <a:pt x="46665" y="0"/>
                    <a:pt x="63508" y="0"/>
                  </a:cubicBezTo>
                  <a:close/>
                </a:path>
              </a:pathLst>
            </a:custGeom>
            <a:solidFill>
              <a:srgbClr val="F0C95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10654" cy="1658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720830" y="9258300"/>
            <a:ext cx="19729659" cy="3086100"/>
            <a:chOff x="0" y="0"/>
            <a:chExt cx="5196289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96289" cy="812800"/>
            </a:xfrm>
            <a:custGeom>
              <a:avLst/>
              <a:gdLst/>
              <a:ahLst/>
              <a:cxnLst/>
              <a:rect r="r" b="b" t="t" l="l"/>
              <a:pathLst>
                <a:path h="812800" w="5196289">
                  <a:moveTo>
                    <a:pt x="0" y="0"/>
                  </a:moveTo>
                  <a:lnTo>
                    <a:pt x="5196289" y="0"/>
                  </a:lnTo>
                  <a:lnTo>
                    <a:pt x="51962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1962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06692" y="4434281"/>
            <a:ext cx="5034585" cy="4457713"/>
            <a:chOff x="0" y="0"/>
            <a:chExt cx="1325981" cy="11740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5981" cy="1174048"/>
            </a:xfrm>
            <a:custGeom>
              <a:avLst/>
              <a:gdLst/>
              <a:ahLst/>
              <a:cxnLst/>
              <a:rect r="r" b="b" t="t" l="l"/>
              <a:pathLst>
                <a:path h="1174048" w="1325981">
                  <a:moveTo>
                    <a:pt x="30755" y="0"/>
                  </a:moveTo>
                  <a:lnTo>
                    <a:pt x="1295226" y="0"/>
                  </a:lnTo>
                  <a:cubicBezTo>
                    <a:pt x="1312212" y="0"/>
                    <a:pt x="1325981" y="13769"/>
                    <a:pt x="1325981" y="30755"/>
                  </a:cubicBezTo>
                  <a:lnTo>
                    <a:pt x="1325981" y="1143293"/>
                  </a:lnTo>
                  <a:cubicBezTo>
                    <a:pt x="1325981" y="1160278"/>
                    <a:pt x="1312212" y="1174048"/>
                    <a:pt x="1295226" y="1174048"/>
                  </a:cubicBezTo>
                  <a:lnTo>
                    <a:pt x="30755" y="1174048"/>
                  </a:lnTo>
                  <a:cubicBezTo>
                    <a:pt x="13769" y="1174048"/>
                    <a:pt x="0" y="1160278"/>
                    <a:pt x="0" y="1143293"/>
                  </a:cubicBezTo>
                  <a:lnTo>
                    <a:pt x="0" y="30755"/>
                  </a:lnTo>
                  <a:cubicBezTo>
                    <a:pt x="0" y="13769"/>
                    <a:pt x="13769" y="0"/>
                    <a:pt x="30755" y="0"/>
                  </a:cubicBez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25981" cy="1212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45985" y="4457687"/>
            <a:ext cx="4780966" cy="4457713"/>
            <a:chOff x="0" y="0"/>
            <a:chExt cx="1259184" cy="11740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184" cy="1174048"/>
            </a:xfrm>
            <a:custGeom>
              <a:avLst/>
              <a:gdLst/>
              <a:ahLst/>
              <a:cxnLst/>
              <a:rect r="r" b="b" t="t" l="l"/>
              <a:pathLst>
                <a:path h="1174048" w="1259184">
                  <a:moveTo>
                    <a:pt x="32386" y="0"/>
                  </a:moveTo>
                  <a:lnTo>
                    <a:pt x="1226798" y="0"/>
                  </a:lnTo>
                  <a:cubicBezTo>
                    <a:pt x="1244685" y="0"/>
                    <a:pt x="1259184" y="14500"/>
                    <a:pt x="1259184" y="32386"/>
                  </a:cubicBezTo>
                  <a:lnTo>
                    <a:pt x="1259184" y="1141662"/>
                  </a:lnTo>
                  <a:cubicBezTo>
                    <a:pt x="1259184" y="1150251"/>
                    <a:pt x="1255772" y="1158488"/>
                    <a:pt x="1249699" y="1164562"/>
                  </a:cubicBezTo>
                  <a:cubicBezTo>
                    <a:pt x="1243625" y="1170636"/>
                    <a:pt x="1235387" y="1174048"/>
                    <a:pt x="1226798" y="1174048"/>
                  </a:cubicBezTo>
                  <a:lnTo>
                    <a:pt x="32386" y="1174048"/>
                  </a:lnTo>
                  <a:cubicBezTo>
                    <a:pt x="14500" y="1174048"/>
                    <a:pt x="0" y="1159548"/>
                    <a:pt x="0" y="1141662"/>
                  </a:cubicBezTo>
                  <a:lnTo>
                    <a:pt x="0" y="32386"/>
                  </a:lnTo>
                  <a:cubicBezTo>
                    <a:pt x="0" y="23797"/>
                    <a:pt x="3412" y="15559"/>
                    <a:pt x="9486" y="9486"/>
                  </a:cubicBezTo>
                  <a:cubicBezTo>
                    <a:pt x="15559" y="3412"/>
                    <a:pt x="23797" y="0"/>
                    <a:pt x="32386" y="0"/>
                  </a:cubicBez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59184" cy="1212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586259" y="1443040"/>
            <a:ext cx="13115482" cy="161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3"/>
              </a:lnSpc>
            </a:pPr>
            <a:r>
              <a:rPr lang="en-US" b="true" sz="6203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ENTITY RELATIONSHIP DIAGRAM – </a:t>
            </a:r>
          </a:p>
          <a:p>
            <a:pPr algn="ctr">
              <a:lnSpc>
                <a:spcPts val="6203"/>
              </a:lnSpc>
            </a:pPr>
            <a:r>
              <a:rPr lang="en-US" b="true" sz="6203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DATA MART FTIK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31348" y="4803173"/>
            <a:ext cx="4512652" cy="390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RELASI AGENDA KE ORGANISASI</a:t>
            </a:r>
          </a:p>
          <a:p>
            <a:pPr algn="ctr" marL="561345" indent="-280673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JENIS RELASI: MANY-TO-ONE (N:1)</a:t>
            </a:r>
          </a:p>
          <a:p>
            <a:pPr algn="ctr" marL="561345" indent="-280673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BANYAK AGENDA → SATU ORGANISASI PENYELENGGARA</a:t>
            </a:r>
          </a:p>
          <a:p>
            <a:pPr algn="ctr" marL="561345" indent="-280673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ORGANIZER → ORGANISASI_ID</a:t>
            </a:r>
          </a:p>
          <a:p>
            <a:pPr algn="ctr">
              <a:lnSpc>
                <a:spcPts val="31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945985" y="5101038"/>
            <a:ext cx="4167028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RELASI PRODI KE ORGANISASI</a:t>
            </a:r>
          </a:p>
          <a:p>
            <a:pPr algn="ctr" marL="561345" indent="-280673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JENIS RELASI: MANY-TO-ONE (N:1)</a:t>
            </a:r>
          </a:p>
          <a:p>
            <a:pPr algn="ctr" marL="561345" indent="-280673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BANYAK PRODI DIBAWAH SATU UNIT ORGANISASI</a:t>
            </a:r>
          </a:p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4229199">
            <a:off x="-496261" y="-1294241"/>
            <a:ext cx="2042422" cy="3510413"/>
          </a:xfrm>
          <a:custGeom>
            <a:avLst/>
            <a:gdLst/>
            <a:ahLst/>
            <a:cxnLst/>
            <a:rect r="r" b="b" t="t" l="l"/>
            <a:pathLst>
              <a:path h="3510413" w="2042422">
                <a:moveTo>
                  <a:pt x="0" y="0"/>
                </a:moveTo>
                <a:lnTo>
                  <a:pt x="2042422" y="0"/>
                </a:lnTo>
                <a:lnTo>
                  <a:pt x="2042422" y="3510413"/>
                </a:lnTo>
                <a:lnTo>
                  <a:pt x="0" y="3510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-4230000">
            <a:off x="16741926" y="-1294241"/>
            <a:ext cx="2042422" cy="3510413"/>
          </a:xfrm>
          <a:custGeom>
            <a:avLst/>
            <a:gdLst/>
            <a:ahLst/>
            <a:cxnLst/>
            <a:rect r="r" b="b" t="t" l="l"/>
            <a:pathLst>
              <a:path h="3510413" w="2042422">
                <a:moveTo>
                  <a:pt x="2042422" y="0"/>
                </a:moveTo>
                <a:lnTo>
                  <a:pt x="0" y="0"/>
                </a:lnTo>
                <a:lnTo>
                  <a:pt x="0" y="3510413"/>
                </a:lnTo>
                <a:lnTo>
                  <a:pt x="2042422" y="3510413"/>
                </a:lnTo>
                <a:lnTo>
                  <a:pt x="20424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342015" y="3833194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0" y="0"/>
                </a:lnTo>
                <a:lnTo>
                  <a:pt x="1603970" y="239137"/>
                </a:lnTo>
                <a:lnTo>
                  <a:pt x="0" y="239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631271" y="6755798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0" y="10370802"/>
                </a:moveTo>
                <a:lnTo>
                  <a:pt x="11664502" y="10370802"/>
                </a:lnTo>
                <a:lnTo>
                  <a:pt x="11664502" y="0"/>
                </a:lnTo>
                <a:lnTo>
                  <a:pt x="0" y="0"/>
                </a:lnTo>
                <a:lnTo>
                  <a:pt x="0" y="103708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4007773" y="6755798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2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2" y="0"/>
                </a:lnTo>
                <a:lnTo>
                  <a:pt x="11664502" y="103708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48773" y="3713660"/>
            <a:ext cx="12190454" cy="6151344"/>
            <a:chOff x="0" y="0"/>
            <a:chExt cx="3210654" cy="16201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10654" cy="1620107"/>
            </a:xfrm>
            <a:custGeom>
              <a:avLst/>
              <a:gdLst/>
              <a:ahLst/>
              <a:cxnLst/>
              <a:rect r="r" b="b" t="t" l="l"/>
              <a:pathLst>
                <a:path h="1620107" w="3210654">
                  <a:moveTo>
                    <a:pt x="63508" y="0"/>
                  </a:moveTo>
                  <a:lnTo>
                    <a:pt x="3147146" y="0"/>
                  </a:lnTo>
                  <a:cubicBezTo>
                    <a:pt x="3163990" y="0"/>
                    <a:pt x="3180143" y="6691"/>
                    <a:pt x="3192053" y="18601"/>
                  </a:cubicBezTo>
                  <a:cubicBezTo>
                    <a:pt x="3203963" y="30511"/>
                    <a:pt x="3210654" y="46665"/>
                    <a:pt x="3210654" y="63508"/>
                  </a:cubicBezTo>
                  <a:lnTo>
                    <a:pt x="3210654" y="1556599"/>
                  </a:lnTo>
                  <a:cubicBezTo>
                    <a:pt x="3210654" y="1573442"/>
                    <a:pt x="3203963" y="1589596"/>
                    <a:pt x="3192053" y="1601506"/>
                  </a:cubicBezTo>
                  <a:cubicBezTo>
                    <a:pt x="3180143" y="1613416"/>
                    <a:pt x="3163990" y="1620107"/>
                    <a:pt x="3147146" y="1620107"/>
                  </a:cubicBezTo>
                  <a:lnTo>
                    <a:pt x="63508" y="1620107"/>
                  </a:lnTo>
                  <a:cubicBezTo>
                    <a:pt x="46665" y="1620107"/>
                    <a:pt x="30511" y="1613416"/>
                    <a:pt x="18601" y="1601506"/>
                  </a:cubicBezTo>
                  <a:cubicBezTo>
                    <a:pt x="6691" y="1589596"/>
                    <a:pt x="0" y="1573442"/>
                    <a:pt x="0" y="1556599"/>
                  </a:cubicBezTo>
                  <a:lnTo>
                    <a:pt x="0" y="63508"/>
                  </a:lnTo>
                  <a:cubicBezTo>
                    <a:pt x="0" y="46665"/>
                    <a:pt x="6691" y="30511"/>
                    <a:pt x="18601" y="18601"/>
                  </a:cubicBezTo>
                  <a:cubicBezTo>
                    <a:pt x="30511" y="6691"/>
                    <a:pt x="46665" y="0"/>
                    <a:pt x="63508" y="0"/>
                  </a:cubicBezTo>
                  <a:close/>
                </a:path>
              </a:pathLst>
            </a:custGeom>
            <a:solidFill>
              <a:srgbClr val="F0C95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10654" cy="1658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720830" y="9258300"/>
            <a:ext cx="19729659" cy="3086100"/>
            <a:chOff x="0" y="0"/>
            <a:chExt cx="5196289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96289" cy="812800"/>
            </a:xfrm>
            <a:custGeom>
              <a:avLst/>
              <a:gdLst/>
              <a:ahLst/>
              <a:cxnLst/>
              <a:rect r="r" b="b" t="t" l="l"/>
              <a:pathLst>
                <a:path h="812800" w="5196289">
                  <a:moveTo>
                    <a:pt x="0" y="0"/>
                  </a:moveTo>
                  <a:lnTo>
                    <a:pt x="5196289" y="0"/>
                  </a:lnTo>
                  <a:lnTo>
                    <a:pt x="51962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1962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26708" y="4436459"/>
            <a:ext cx="6703820" cy="4457713"/>
            <a:chOff x="0" y="0"/>
            <a:chExt cx="1765615" cy="11740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5615" cy="1174048"/>
            </a:xfrm>
            <a:custGeom>
              <a:avLst/>
              <a:gdLst/>
              <a:ahLst/>
              <a:cxnLst/>
              <a:rect r="r" b="b" t="t" l="l"/>
              <a:pathLst>
                <a:path h="1174048" w="1765615">
                  <a:moveTo>
                    <a:pt x="23097" y="0"/>
                  </a:moveTo>
                  <a:lnTo>
                    <a:pt x="1742518" y="0"/>
                  </a:lnTo>
                  <a:cubicBezTo>
                    <a:pt x="1755274" y="0"/>
                    <a:pt x="1765615" y="10341"/>
                    <a:pt x="1765615" y="23097"/>
                  </a:cubicBezTo>
                  <a:lnTo>
                    <a:pt x="1765615" y="1150951"/>
                  </a:lnTo>
                  <a:cubicBezTo>
                    <a:pt x="1765615" y="1163707"/>
                    <a:pt x="1755274" y="1174048"/>
                    <a:pt x="1742518" y="1174048"/>
                  </a:cubicBezTo>
                  <a:lnTo>
                    <a:pt x="23097" y="1174048"/>
                  </a:lnTo>
                  <a:cubicBezTo>
                    <a:pt x="10341" y="1174048"/>
                    <a:pt x="0" y="1163707"/>
                    <a:pt x="0" y="1150951"/>
                  </a:cubicBezTo>
                  <a:lnTo>
                    <a:pt x="0" y="23097"/>
                  </a:lnTo>
                  <a:cubicBezTo>
                    <a:pt x="0" y="10341"/>
                    <a:pt x="10341" y="0"/>
                    <a:pt x="23097" y="0"/>
                  </a:cubicBez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65615" cy="1212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586259" y="1443040"/>
            <a:ext cx="13115482" cy="161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3"/>
              </a:lnSpc>
            </a:pPr>
            <a:r>
              <a:rPr lang="en-US" b="true" sz="6203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ENTITY RELATIONSHIP DIAGRAM – </a:t>
            </a:r>
          </a:p>
          <a:p>
            <a:pPr algn="ctr">
              <a:lnSpc>
                <a:spcPts val="6203"/>
              </a:lnSpc>
            </a:pPr>
            <a:r>
              <a:rPr lang="en-US" b="true" sz="6203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DATA MART FTIK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3812" y="4426934"/>
            <a:ext cx="4512652" cy="492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SELF-REFERENCING ORGANISASI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JENIS RELASI: ONE-TO-MANY (1:N)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ARENT_ID → ORGANISASI_ID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MEMBANGUN STRUKTUR HIERARKI FAKULTAS → DEPARTEMEN → PRODI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4229199">
            <a:off x="-496261" y="-1294241"/>
            <a:ext cx="2042422" cy="3510413"/>
          </a:xfrm>
          <a:custGeom>
            <a:avLst/>
            <a:gdLst/>
            <a:ahLst/>
            <a:cxnLst/>
            <a:rect r="r" b="b" t="t" l="l"/>
            <a:pathLst>
              <a:path h="3510413" w="2042422">
                <a:moveTo>
                  <a:pt x="0" y="0"/>
                </a:moveTo>
                <a:lnTo>
                  <a:pt x="2042422" y="0"/>
                </a:lnTo>
                <a:lnTo>
                  <a:pt x="2042422" y="3510413"/>
                </a:lnTo>
                <a:lnTo>
                  <a:pt x="0" y="3510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4230000">
            <a:off x="16741926" y="-1294241"/>
            <a:ext cx="2042422" cy="3510413"/>
          </a:xfrm>
          <a:custGeom>
            <a:avLst/>
            <a:gdLst/>
            <a:ahLst/>
            <a:cxnLst/>
            <a:rect r="r" b="b" t="t" l="l"/>
            <a:pathLst>
              <a:path h="3510413" w="2042422">
                <a:moveTo>
                  <a:pt x="2042422" y="0"/>
                </a:moveTo>
                <a:lnTo>
                  <a:pt x="0" y="0"/>
                </a:lnTo>
                <a:lnTo>
                  <a:pt x="0" y="3510413"/>
                </a:lnTo>
                <a:lnTo>
                  <a:pt x="2042422" y="3510413"/>
                </a:lnTo>
                <a:lnTo>
                  <a:pt x="20424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342015" y="3833194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0" y="0"/>
                </a:lnTo>
                <a:lnTo>
                  <a:pt x="1603970" y="239137"/>
                </a:lnTo>
                <a:lnTo>
                  <a:pt x="0" y="239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649178" y="3441393"/>
            <a:ext cx="10042979" cy="8929122"/>
          </a:xfrm>
          <a:custGeom>
            <a:avLst/>
            <a:gdLst/>
            <a:ahLst/>
            <a:cxnLst/>
            <a:rect r="r" b="b" t="t" l="l"/>
            <a:pathLst>
              <a:path h="8929122" w="10042979">
                <a:moveTo>
                  <a:pt x="10042979" y="8929122"/>
                </a:moveTo>
                <a:lnTo>
                  <a:pt x="0" y="8929122"/>
                </a:lnTo>
                <a:lnTo>
                  <a:pt x="0" y="0"/>
                </a:lnTo>
                <a:lnTo>
                  <a:pt x="10042979" y="0"/>
                </a:lnTo>
                <a:lnTo>
                  <a:pt x="10042979" y="89291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739604" y="-1956959"/>
            <a:ext cx="10263326" cy="9125030"/>
          </a:xfrm>
          <a:custGeom>
            <a:avLst/>
            <a:gdLst/>
            <a:ahLst/>
            <a:cxnLst/>
            <a:rect r="r" b="b" t="t" l="l"/>
            <a:pathLst>
              <a:path h="9125030" w="10263326">
                <a:moveTo>
                  <a:pt x="10263325" y="9125030"/>
                </a:moveTo>
                <a:lnTo>
                  <a:pt x="0" y="9125030"/>
                </a:lnTo>
                <a:lnTo>
                  <a:pt x="0" y="0"/>
                </a:lnTo>
                <a:lnTo>
                  <a:pt x="10263325" y="0"/>
                </a:lnTo>
                <a:lnTo>
                  <a:pt x="10263325" y="91250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544794" y="4355487"/>
            <a:ext cx="10472880" cy="9311343"/>
          </a:xfrm>
          <a:custGeom>
            <a:avLst/>
            <a:gdLst/>
            <a:ahLst/>
            <a:cxnLst/>
            <a:rect r="r" b="b" t="t" l="l"/>
            <a:pathLst>
              <a:path h="9311343" w="10472880">
                <a:moveTo>
                  <a:pt x="10472881" y="9311343"/>
                </a:moveTo>
                <a:lnTo>
                  <a:pt x="0" y="9311343"/>
                </a:lnTo>
                <a:lnTo>
                  <a:pt x="0" y="0"/>
                </a:lnTo>
                <a:lnTo>
                  <a:pt x="10472881" y="0"/>
                </a:lnTo>
                <a:lnTo>
                  <a:pt x="10472881" y="931134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953853" y="-210466"/>
            <a:ext cx="5188583" cy="4565953"/>
          </a:xfrm>
          <a:custGeom>
            <a:avLst/>
            <a:gdLst/>
            <a:ahLst/>
            <a:cxnLst/>
            <a:rect r="r" b="b" t="t" l="l"/>
            <a:pathLst>
              <a:path h="4565953" w="5188583">
                <a:moveTo>
                  <a:pt x="5188583" y="0"/>
                </a:moveTo>
                <a:lnTo>
                  <a:pt x="0" y="0"/>
                </a:lnTo>
                <a:lnTo>
                  <a:pt x="0" y="4565953"/>
                </a:lnTo>
                <a:lnTo>
                  <a:pt x="5188583" y="4565953"/>
                </a:lnTo>
                <a:lnTo>
                  <a:pt x="518858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86029"/>
            <a:ext cx="10901061" cy="184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sz="7103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DATA PROFILING — BERDASARKAN WEBSITE FTIK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1247344" y="1511774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1" y="0"/>
                </a:lnTo>
                <a:lnTo>
                  <a:pt x="1603971" y="239138"/>
                </a:lnTo>
                <a:lnTo>
                  <a:pt x="0" y="2391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38998" y="2669758"/>
            <a:ext cx="6703820" cy="2727190"/>
            <a:chOff x="0" y="0"/>
            <a:chExt cx="1765615" cy="7182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5615" cy="718272"/>
            </a:xfrm>
            <a:custGeom>
              <a:avLst/>
              <a:gdLst/>
              <a:ahLst/>
              <a:cxnLst/>
              <a:rect r="r" b="b" t="t" l="l"/>
              <a:pathLst>
                <a:path h="718272" w="1765615">
                  <a:moveTo>
                    <a:pt x="23097" y="0"/>
                  </a:moveTo>
                  <a:lnTo>
                    <a:pt x="1742518" y="0"/>
                  </a:lnTo>
                  <a:cubicBezTo>
                    <a:pt x="1755274" y="0"/>
                    <a:pt x="1765615" y="10341"/>
                    <a:pt x="1765615" y="23097"/>
                  </a:cubicBezTo>
                  <a:lnTo>
                    <a:pt x="1765615" y="695175"/>
                  </a:lnTo>
                  <a:cubicBezTo>
                    <a:pt x="1765615" y="707931"/>
                    <a:pt x="1755274" y="718272"/>
                    <a:pt x="1742518" y="718272"/>
                  </a:cubicBezTo>
                  <a:lnTo>
                    <a:pt x="23097" y="718272"/>
                  </a:lnTo>
                  <a:cubicBezTo>
                    <a:pt x="10341" y="718272"/>
                    <a:pt x="0" y="707931"/>
                    <a:pt x="0" y="695175"/>
                  </a:cubicBezTo>
                  <a:lnTo>
                    <a:pt x="0" y="23097"/>
                  </a:lnTo>
                  <a:cubicBezTo>
                    <a:pt x="0" y="10341"/>
                    <a:pt x="10341" y="0"/>
                    <a:pt x="23097" y="0"/>
                  </a:cubicBez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65615" cy="756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38998" y="2707662"/>
            <a:ext cx="6703820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(A) DISTRIBUSI DATA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PUBLIKASI BERITA MELONJAK SAAT AKREDITASI ATAU EVENT BESAR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AKTIVITAS TERTINGGI DARI TEKNIK SIPIL &amp; PWK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440180" y="5972175"/>
            <a:ext cx="6703820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(A) DISTRIBUSI DATA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PUBLIKASI BERITA MELONJAK SAAT AKREDITASI ATAU EVENT BESAR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AKTIVITAS TERTINGGI DARI TEKNIK SIPIL &amp; PWK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338998" y="5686654"/>
            <a:ext cx="6703820" cy="2727190"/>
            <a:chOff x="0" y="0"/>
            <a:chExt cx="1765615" cy="718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65615" cy="718272"/>
            </a:xfrm>
            <a:custGeom>
              <a:avLst/>
              <a:gdLst/>
              <a:ahLst/>
              <a:cxnLst/>
              <a:rect r="r" b="b" t="t" l="l"/>
              <a:pathLst>
                <a:path h="718272" w="1765615">
                  <a:moveTo>
                    <a:pt x="23097" y="0"/>
                  </a:moveTo>
                  <a:lnTo>
                    <a:pt x="1742518" y="0"/>
                  </a:lnTo>
                  <a:cubicBezTo>
                    <a:pt x="1755274" y="0"/>
                    <a:pt x="1765615" y="10341"/>
                    <a:pt x="1765615" y="23097"/>
                  </a:cubicBezTo>
                  <a:lnTo>
                    <a:pt x="1765615" y="695175"/>
                  </a:lnTo>
                  <a:cubicBezTo>
                    <a:pt x="1765615" y="707931"/>
                    <a:pt x="1755274" y="718272"/>
                    <a:pt x="1742518" y="718272"/>
                  </a:cubicBezTo>
                  <a:lnTo>
                    <a:pt x="23097" y="718272"/>
                  </a:lnTo>
                  <a:cubicBezTo>
                    <a:pt x="10341" y="718272"/>
                    <a:pt x="0" y="707931"/>
                    <a:pt x="0" y="695175"/>
                  </a:cubicBezTo>
                  <a:lnTo>
                    <a:pt x="0" y="23097"/>
                  </a:lnTo>
                  <a:cubicBezTo>
                    <a:pt x="0" y="10341"/>
                    <a:pt x="10341" y="0"/>
                    <a:pt x="23097" y="0"/>
                  </a:cubicBez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65615" cy="756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5725034"/>
            <a:ext cx="6703820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(B) NULL / INCOMPLETE VALUES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BANYAK BERITA TIDAK MEMILIKI KATEGORI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LOKASI AGENDA SERING KOSONG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ORGANISASI PENYELENGGARA TIDAK SELALU DITAMPILKAN</a:t>
            </a:r>
          </a:p>
          <a:p>
            <a:pPr algn="ctr">
              <a:lnSpc>
                <a:spcPts val="324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8427393" y="2669758"/>
            <a:ext cx="5526459" cy="2727190"/>
            <a:chOff x="0" y="0"/>
            <a:chExt cx="1455528" cy="718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55528" cy="718272"/>
            </a:xfrm>
            <a:custGeom>
              <a:avLst/>
              <a:gdLst/>
              <a:ahLst/>
              <a:cxnLst/>
              <a:rect r="r" b="b" t="t" l="l"/>
              <a:pathLst>
                <a:path h="718272" w="1455528">
                  <a:moveTo>
                    <a:pt x="35022" y="0"/>
                  </a:moveTo>
                  <a:lnTo>
                    <a:pt x="1420506" y="0"/>
                  </a:lnTo>
                  <a:cubicBezTo>
                    <a:pt x="1429795" y="0"/>
                    <a:pt x="1438703" y="3690"/>
                    <a:pt x="1445271" y="10258"/>
                  </a:cubicBezTo>
                  <a:cubicBezTo>
                    <a:pt x="1451839" y="16826"/>
                    <a:pt x="1455528" y="25734"/>
                    <a:pt x="1455528" y="35022"/>
                  </a:cubicBezTo>
                  <a:lnTo>
                    <a:pt x="1455528" y="683250"/>
                  </a:lnTo>
                  <a:cubicBezTo>
                    <a:pt x="1455528" y="702592"/>
                    <a:pt x="1439849" y="718272"/>
                    <a:pt x="1420506" y="718272"/>
                  </a:cubicBezTo>
                  <a:lnTo>
                    <a:pt x="35022" y="718272"/>
                  </a:lnTo>
                  <a:cubicBezTo>
                    <a:pt x="25734" y="718272"/>
                    <a:pt x="16826" y="714582"/>
                    <a:pt x="10258" y="708015"/>
                  </a:cubicBezTo>
                  <a:cubicBezTo>
                    <a:pt x="3690" y="701447"/>
                    <a:pt x="0" y="692539"/>
                    <a:pt x="0" y="683250"/>
                  </a:cubicBezTo>
                  <a:lnTo>
                    <a:pt x="0" y="35022"/>
                  </a:lnTo>
                  <a:cubicBezTo>
                    <a:pt x="0" y="15680"/>
                    <a:pt x="15680" y="0"/>
                    <a:pt x="35022" y="0"/>
                  </a:cubicBezTo>
                  <a:close/>
                </a:path>
              </a:pathLst>
            </a:custGeom>
            <a:solidFill>
              <a:srgbClr val="BC684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55528" cy="756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732520" y="2836029"/>
            <a:ext cx="6606359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</a:pPr>
            <a:r>
              <a:rPr lang="en-US" sz="319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(C) Outliers</a:t>
            </a:r>
          </a:p>
          <a:p>
            <a:pPr algn="ctr" marL="689051" indent="-344525" lvl="1">
              <a:lnSpc>
                <a:spcPts val="3829"/>
              </a:lnSpc>
              <a:buFont typeface="Arial"/>
              <a:buChar char="•"/>
            </a:pPr>
            <a:r>
              <a:rPr lang="en-US" b="true" sz="319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Kegiatan tanpa deskripsi</a:t>
            </a:r>
          </a:p>
          <a:p>
            <a:pPr algn="ctr" marL="689051" indent="-344525" lvl="1">
              <a:lnSpc>
                <a:spcPts val="3829"/>
              </a:lnSpc>
              <a:buFont typeface="Arial"/>
              <a:buChar char="•"/>
            </a:pPr>
            <a:r>
              <a:rPr lang="en-US" b="true" sz="319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Format tanggal tidak konsisten</a:t>
            </a:r>
          </a:p>
          <a:p>
            <a:pPr algn="ctr">
              <a:lnSpc>
                <a:spcPts val="3829"/>
              </a:lnSpc>
            </a:pPr>
            <a:r>
              <a:rPr lang="en-US" sz="319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dimensi.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427393" y="5804476"/>
            <a:ext cx="5911487" cy="2797108"/>
            <a:chOff x="0" y="0"/>
            <a:chExt cx="1556935" cy="7366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6935" cy="736687"/>
            </a:xfrm>
            <a:custGeom>
              <a:avLst/>
              <a:gdLst/>
              <a:ahLst/>
              <a:cxnLst/>
              <a:rect r="r" b="b" t="t" l="l"/>
              <a:pathLst>
                <a:path h="736687" w="1556935">
                  <a:moveTo>
                    <a:pt x="32741" y="0"/>
                  </a:moveTo>
                  <a:lnTo>
                    <a:pt x="1524194" y="0"/>
                  </a:lnTo>
                  <a:cubicBezTo>
                    <a:pt x="1532877" y="0"/>
                    <a:pt x="1541205" y="3449"/>
                    <a:pt x="1547345" y="9590"/>
                  </a:cubicBezTo>
                  <a:cubicBezTo>
                    <a:pt x="1553485" y="15730"/>
                    <a:pt x="1556935" y="24058"/>
                    <a:pt x="1556935" y="32741"/>
                  </a:cubicBezTo>
                  <a:lnTo>
                    <a:pt x="1556935" y="703946"/>
                  </a:lnTo>
                  <a:cubicBezTo>
                    <a:pt x="1556935" y="722028"/>
                    <a:pt x="1542276" y="736687"/>
                    <a:pt x="1524194" y="736687"/>
                  </a:cubicBezTo>
                  <a:lnTo>
                    <a:pt x="32741" y="736687"/>
                  </a:lnTo>
                  <a:cubicBezTo>
                    <a:pt x="24058" y="736687"/>
                    <a:pt x="15730" y="733237"/>
                    <a:pt x="9590" y="727097"/>
                  </a:cubicBezTo>
                  <a:cubicBezTo>
                    <a:pt x="3449" y="720957"/>
                    <a:pt x="0" y="712629"/>
                    <a:pt x="0" y="703946"/>
                  </a:cubicBezTo>
                  <a:lnTo>
                    <a:pt x="0" y="32741"/>
                  </a:lnTo>
                  <a:cubicBezTo>
                    <a:pt x="0" y="24058"/>
                    <a:pt x="3449" y="15730"/>
                    <a:pt x="9590" y="9590"/>
                  </a:cubicBezTo>
                  <a:cubicBezTo>
                    <a:pt x="15730" y="3449"/>
                    <a:pt x="24058" y="0"/>
                    <a:pt x="32741" y="0"/>
                  </a:cubicBezTo>
                  <a:close/>
                </a:path>
              </a:pathLst>
            </a:custGeom>
            <a:solidFill>
              <a:srgbClr val="BC684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56935" cy="774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732520" y="5984262"/>
            <a:ext cx="6606359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</a:pPr>
            <a:r>
              <a:rPr lang="en-US" sz="319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(D) Duplikasi</a:t>
            </a:r>
          </a:p>
          <a:p>
            <a:pPr algn="ctr" marL="689051" indent="-344525" lvl="1">
              <a:lnSpc>
                <a:spcPts val="3829"/>
              </a:lnSpc>
              <a:buFont typeface="Arial"/>
              <a:buChar char="•"/>
            </a:pPr>
            <a:r>
              <a:rPr lang="en-US" b="true" sz="319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Judul berita mirip namun bukan copy</a:t>
            </a:r>
          </a:p>
          <a:p>
            <a:pPr algn="ctr" marL="689051" indent="-344525" lvl="1">
              <a:lnSpc>
                <a:spcPts val="3829"/>
              </a:lnSpc>
              <a:buFont typeface="Arial"/>
              <a:buChar char="•"/>
            </a:pPr>
            <a:r>
              <a:rPr lang="en-US" b="true" sz="319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Agenda sering muncul juga sebagai berita </a:t>
            </a:r>
          </a:p>
          <a:p>
            <a:pPr algn="ctr">
              <a:lnSpc>
                <a:spcPts val="382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649178" y="3441393"/>
            <a:ext cx="10042979" cy="8929122"/>
          </a:xfrm>
          <a:custGeom>
            <a:avLst/>
            <a:gdLst/>
            <a:ahLst/>
            <a:cxnLst/>
            <a:rect r="r" b="b" t="t" l="l"/>
            <a:pathLst>
              <a:path h="8929122" w="10042979">
                <a:moveTo>
                  <a:pt x="10042979" y="8929122"/>
                </a:moveTo>
                <a:lnTo>
                  <a:pt x="0" y="8929122"/>
                </a:lnTo>
                <a:lnTo>
                  <a:pt x="0" y="0"/>
                </a:lnTo>
                <a:lnTo>
                  <a:pt x="10042979" y="0"/>
                </a:lnTo>
                <a:lnTo>
                  <a:pt x="10042979" y="89291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739604" y="-1956959"/>
            <a:ext cx="10263326" cy="9125030"/>
          </a:xfrm>
          <a:custGeom>
            <a:avLst/>
            <a:gdLst/>
            <a:ahLst/>
            <a:cxnLst/>
            <a:rect r="r" b="b" t="t" l="l"/>
            <a:pathLst>
              <a:path h="9125030" w="10263326">
                <a:moveTo>
                  <a:pt x="10263325" y="9125030"/>
                </a:moveTo>
                <a:lnTo>
                  <a:pt x="0" y="9125030"/>
                </a:lnTo>
                <a:lnTo>
                  <a:pt x="0" y="0"/>
                </a:lnTo>
                <a:lnTo>
                  <a:pt x="10263325" y="0"/>
                </a:lnTo>
                <a:lnTo>
                  <a:pt x="10263325" y="91250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544794" y="4355487"/>
            <a:ext cx="10472880" cy="9311343"/>
          </a:xfrm>
          <a:custGeom>
            <a:avLst/>
            <a:gdLst/>
            <a:ahLst/>
            <a:cxnLst/>
            <a:rect r="r" b="b" t="t" l="l"/>
            <a:pathLst>
              <a:path h="9311343" w="10472880">
                <a:moveTo>
                  <a:pt x="10472881" y="9311343"/>
                </a:moveTo>
                <a:lnTo>
                  <a:pt x="0" y="9311343"/>
                </a:lnTo>
                <a:lnTo>
                  <a:pt x="0" y="0"/>
                </a:lnTo>
                <a:lnTo>
                  <a:pt x="10472881" y="0"/>
                </a:lnTo>
                <a:lnTo>
                  <a:pt x="10472881" y="931134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953853" y="-210466"/>
            <a:ext cx="5188583" cy="4565953"/>
          </a:xfrm>
          <a:custGeom>
            <a:avLst/>
            <a:gdLst/>
            <a:ahLst/>
            <a:cxnLst/>
            <a:rect r="r" b="b" t="t" l="l"/>
            <a:pathLst>
              <a:path h="4565953" w="5188583">
                <a:moveTo>
                  <a:pt x="5188583" y="0"/>
                </a:moveTo>
                <a:lnTo>
                  <a:pt x="0" y="0"/>
                </a:lnTo>
                <a:lnTo>
                  <a:pt x="0" y="4565953"/>
                </a:lnTo>
                <a:lnTo>
                  <a:pt x="5188583" y="4565953"/>
                </a:lnTo>
                <a:lnTo>
                  <a:pt x="518858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124583" y="2196336"/>
            <a:ext cx="10901061" cy="184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sz="7103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DATA PROFILING — BERDASARKAN WEBSITE FTIK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1247344" y="1511774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1" y="0"/>
                </a:lnTo>
                <a:lnTo>
                  <a:pt x="1603971" y="239138"/>
                </a:lnTo>
                <a:lnTo>
                  <a:pt x="0" y="2391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588820" y="4236094"/>
            <a:ext cx="9972587" cy="2727190"/>
            <a:chOff x="0" y="0"/>
            <a:chExt cx="2626525" cy="7182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26525" cy="718272"/>
            </a:xfrm>
            <a:custGeom>
              <a:avLst/>
              <a:gdLst/>
              <a:ahLst/>
              <a:cxnLst/>
              <a:rect r="r" b="b" t="t" l="l"/>
              <a:pathLst>
                <a:path h="718272" w="2626525">
                  <a:moveTo>
                    <a:pt x="15526" y="0"/>
                  </a:moveTo>
                  <a:lnTo>
                    <a:pt x="2610999" y="0"/>
                  </a:lnTo>
                  <a:cubicBezTo>
                    <a:pt x="2619574" y="0"/>
                    <a:pt x="2626525" y="6951"/>
                    <a:pt x="2626525" y="15526"/>
                  </a:cubicBezTo>
                  <a:lnTo>
                    <a:pt x="2626525" y="702746"/>
                  </a:lnTo>
                  <a:cubicBezTo>
                    <a:pt x="2626525" y="706864"/>
                    <a:pt x="2624889" y="710813"/>
                    <a:pt x="2621977" y="713725"/>
                  </a:cubicBezTo>
                  <a:cubicBezTo>
                    <a:pt x="2619066" y="716636"/>
                    <a:pt x="2615116" y="718272"/>
                    <a:pt x="2610999" y="718272"/>
                  </a:cubicBezTo>
                  <a:lnTo>
                    <a:pt x="15526" y="718272"/>
                  </a:lnTo>
                  <a:cubicBezTo>
                    <a:pt x="11409" y="718272"/>
                    <a:pt x="7459" y="716636"/>
                    <a:pt x="4548" y="713725"/>
                  </a:cubicBezTo>
                  <a:cubicBezTo>
                    <a:pt x="1636" y="710813"/>
                    <a:pt x="0" y="706864"/>
                    <a:pt x="0" y="702746"/>
                  </a:cubicBezTo>
                  <a:lnTo>
                    <a:pt x="0" y="15526"/>
                  </a:lnTo>
                  <a:cubicBezTo>
                    <a:pt x="0" y="11409"/>
                    <a:pt x="1636" y="7459"/>
                    <a:pt x="4548" y="4548"/>
                  </a:cubicBezTo>
                  <a:cubicBezTo>
                    <a:pt x="7459" y="1636"/>
                    <a:pt x="11409" y="0"/>
                    <a:pt x="15526" y="0"/>
                  </a:cubicBezTo>
                  <a:close/>
                </a:path>
              </a:pathLst>
            </a:custGeom>
            <a:solidFill>
              <a:srgbClr val="35395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26525" cy="756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550222" y="4496309"/>
            <a:ext cx="6703820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(E) FORMAT KONSISTENSI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PENULISAN PRODI TIDAK SERAGAM (PWK VS PLANOLOGI)</a:t>
            </a:r>
          </a:p>
          <a:p>
            <a:pPr algn="ctr" marL="582935" indent="-291467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KAPITALISASI NAMA PEJABAT BERAGAM</a:t>
            </a:r>
          </a:p>
          <a:p>
            <a:pPr algn="ctr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898" y="9467871"/>
            <a:ext cx="20863797" cy="3086100"/>
            <a:chOff x="0" y="0"/>
            <a:chExt cx="549499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4992" cy="812800"/>
            </a:xfrm>
            <a:custGeom>
              <a:avLst/>
              <a:gdLst/>
              <a:ahLst/>
              <a:cxnLst/>
              <a:rect r="r" b="b" t="t" l="l"/>
              <a:pathLst>
                <a:path h="812800" w="5494992">
                  <a:moveTo>
                    <a:pt x="0" y="0"/>
                  </a:moveTo>
                  <a:lnTo>
                    <a:pt x="5494992" y="0"/>
                  </a:lnTo>
                  <a:lnTo>
                    <a:pt x="54949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C68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9499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9781112" y="-1108759"/>
            <a:ext cx="13631542" cy="12119680"/>
          </a:xfrm>
          <a:custGeom>
            <a:avLst/>
            <a:gdLst/>
            <a:ahLst/>
            <a:cxnLst/>
            <a:rect r="r" b="b" t="t" l="l"/>
            <a:pathLst>
              <a:path h="12119680" w="13631542">
                <a:moveTo>
                  <a:pt x="13631543" y="12119680"/>
                </a:moveTo>
                <a:lnTo>
                  <a:pt x="0" y="12119680"/>
                </a:lnTo>
                <a:lnTo>
                  <a:pt x="0" y="0"/>
                </a:lnTo>
                <a:lnTo>
                  <a:pt x="13631543" y="0"/>
                </a:lnTo>
                <a:lnTo>
                  <a:pt x="13631543" y="121196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058926" y="-3316552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1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1" y="0"/>
                </a:lnTo>
                <a:lnTo>
                  <a:pt x="11664501" y="103708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112509" y="3232750"/>
            <a:ext cx="11664502" cy="10370802"/>
          </a:xfrm>
          <a:custGeom>
            <a:avLst/>
            <a:gdLst/>
            <a:ahLst/>
            <a:cxnLst/>
            <a:rect r="r" b="b" t="t" l="l"/>
            <a:pathLst>
              <a:path h="10370802" w="11664502">
                <a:moveTo>
                  <a:pt x="11664502" y="10370802"/>
                </a:moveTo>
                <a:lnTo>
                  <a:pt x="0" y="10370802"/>
                </a:lnTo>
                <a:lnTo>
                  <a:pt x="0" y="0"/>
                </a:lnTo>
                <a:lnTo>
                  <a:pt x="11664502" y="0"/>
                </a:lnTo>
                <a:lnTo>
                  <a:pt x="11664502" y="1037080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14506" y="1857616"/>
            <a:ext cx="7729494" cy="486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92"/>
              </a:lnSpc>
            </a:pPr>
            <a:r>
              <a:rPr lang="en-US" sz="18692" b="true">
                <a:solidFill>
                  <a:srgbClr val="353958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TERIMA KASIH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4506" y="6650696"/>
            <a:ext cx="6277980" cy="67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5"/>
              </a:lnSpc>
            </a:pPr>
            <a:r>
              <a:rPr lang="en-US" sz="3997" b="true">
                <a:solidFill>
                  <a:srgbClr val="353958"/>
                </a:solidFill>
                <a:latin typeface="Inter Bold"/>
                <a:ea typeface="Inter Bold"/>
                <a:cs typeface="Inter Bold"/>
                <a:sym typeface="Inter Bold"/>
              </a:rPr>
              <a:t>Kepada semuanya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8726666" y="1974899"/>
            <a:ext cx="8664519" cy="6443252"/>
          </a:xfrm>
          <a:custGeom>
            <a:avLst/>
            <a:gdLst/>
            <a:ahLst/>
            <a:cxnLst/>
            <a:rect r="r" b="b" t="t" l="l"/>
            <a:pathLst>
              <a:path h="6443252" w="8664519">
                <a:moveTo>
                  <a:pt x="8664519" y="0"/>
                </a:moveTo>
                <a:lnTo>
                  <a:pt x="0" y="0"/>
                </a:lnTo>
                <a:lnTo>
                  <a:pt x="0" y="6443252"/>
                </a:lnTo>
                <a:lnTo>
                  <a:pt x="8664519" y="6443252"/>
                </a:lnTo>
                <a:lnTo>
                  <a:pt x="866451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4229199">
            <a:off x="-496261" y="-1294241"/>
            <a:ext cx="2042422" cy="3510413"/>
          </a:xfrm>
          <a:custGeom>
            <a:avLst/>
            <a:gdLst/>
            <a:ahLst/>
            <a:cxnLst/>
            <a:rect r="r" b="b" t="t" l="l"/>
            <a:pathLst>
              <a:path h="3510413" w="2042422">
                <a:moveTo>
                  <a:pt x="0" y="0"/>
                </a:moveTo>
                <a:lnTo>
                  <a:pt x="2042422" y="0"/>
                </a:lnTo>
                <a:lnTo>
                  <a:pt x="2042422" y="3510413"/>
                </a:lnTo>
                <a:lnTo>
                  <a:pt x="0" y="3510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67720" y="959915"/>
            <a:ext cx="1603971" cy="239137"/>
          </a:xfrm>
          <a:custGeom>
            <a:avLst/>
            <a:gdLst/>
            <a:ahLst/>
            <a:cxnLst/>
            <a:rect r="r" b="b" t="t" l="l"/>
            <a:pathLst>
              <a:path h="239137" w="1603971">
                <a:moveTo>
                  <a:pt x="0" y="0"/>
                </a:moveTo>
                <a:lnTo>
                  <a:pt x="1603971" y="0"/>
                </a:lnTo>
                <a:lnTo>
                  <a:pt x="1603971" y="239138"/>
                </a:lnTo>
                <a:lnTo>
                  <a:pt x="0" y="2391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DAG62JrT2fw</dc:identifier>
  <dcterms:modified xsi:type="dcterms:W3CDTF">2011-08-01T06:04:30Z</dcterms:modified>
  <cp:revision>1</cp:revision>
  <dc:title>Kelompok 15_tugas besar dw </dc:title>
</cp:coreProperties>
</file>